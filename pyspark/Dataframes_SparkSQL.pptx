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40" y="-1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69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291840" cy="329184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332720" y="4846320"/>
            <a:ext cx="2011680" cy="2011680"/>
          </a:xfrm>
          <a:prstGeom prst="ellipse">
            <a:avLst/>
          </a:prstGeom>
          <a:solidFill>
            <a:srgbClr val="7C6F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744200" y="5257800"/>
            <a:ext cx="1188720" cy="1188720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-1097280" y="-1280160"/>
            <a:ext cx="2743200" cy="274320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 ·  STRUCTURED APIS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DataFrame API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C7C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 Introduction to Spark SQL / PySpark SQL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1170432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31520" y="37947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03120" y="3794760"/>
            <a:ext cx="1078992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103120" y="37947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3794760"/>
            <a:ext cx="2816352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383280" y="37947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Transformations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794760"/>
            <a:ext cx="1261872" cy="457200"/>
          </a:xfrm>
          <a:prstGeom prst="roundRect">
            <a:avLst>
              <a:gd name="adj" fmla="val 50000"/>
            </a:avLst>
          </a:prstGeom>
          <a:solidFill>
            <a:srgbClr val="1F2E52"/>
          </a:solidFill>
          <a:ln w="12700">
            <a:solidFill>
              <a:srgbClr val="3440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0" y="37947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SQL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Spark represents structured data as named, typed columns — and lets you query it with DataFrame operations or plain SQL.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07568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04672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03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DataFrames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4904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DataFrame is, how it differs from an RDD, and how it's built and optimized under the hood.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178308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75888" y="207568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C6F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675888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8803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374904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plain SQL queries against DataFrames using temporary views and the Spark SQL engine.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178308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547104" y="207568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547104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28803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Operations &amp; Transformations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374904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filter, withColumn, groupBy, join, and other everyday DataFrame building blocks.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62288" y="1783080"/>
            <a:ext cx="2651760" cy="4160520"/>
          </a:xfrm>
          <a:prstGeom prst="roundRect">
            <a:avLst>
              <a:gd name="adj" fmla="val 4138"/>
            </a:avLst>
          </a:prstGeom>
          <a:solidFill>
            <a:srgbClr val="F6F7FA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418320" y="2075688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9418320" y="2075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88036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PySpark SQL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749040"/>
            <a:ext cx="21396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pyspark.sql functions and types to write expressive, SQL-like logic in Python.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DATAFRAMES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DataFrame?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is a </a:t>
            </a: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collection of data organized into named columns</a:t>
            </a:r>
            <a:r>
              <a:rPr lang="en-US" sz="14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conceptually like a table in a database or a pandas DataFrame, but built for distributed, lazy, parallel execution.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vs. DataFrame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394960" cy="2148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 objects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columns +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built-in 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Catalyst query optimizer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(map/filter)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(SQL-like)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Structured, tabular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463040"/>
            <a:ext cx="5349240" cy="4480560"/>
          </a:xfrm>
          <a:prstGeom prst="roundRect">
            <a:avLst>
              <a:gd name="adj" fmla="val 2857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6309360" y="1691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DATAFRAME LOOKS LIKE A TABLE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66560" y="2240280"/>
            <a:ext cx="110871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6766560" y="22402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75270" y="2240280"/>
            <a:ext cx="110871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875270" y="22402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983980" y="2240280"/>
            <a:ext cx="110871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8983980" y="22402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92690" y="2240280"/>
            <a:ext cx="1108710" cy="457200"/>
          </a:xfrm>
          <a:prstGeom prst="rect">
            <a:avLst/>
          </a:prstGeom>
          <a:solidFill>
            <a:srgbClr val="FF6B35"/>
          </a:solidFill>
          <a:ln w="9525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10092690" y="22402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66560" y="26974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6766560" y="26974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875270" y="26974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7875270" y="26974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83980" y="26974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8983980" y="26974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0092690" y="26974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10092690" y="26974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95000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66560" y="3154680"/>
            <a:ext cx="1108710" cy="457200"/>
          </a:xfrm>
          <a:prstGeom prst="rect">
            <a:avLst/>
          </a:prstGeom>
          <a:solidFill>
            <a:srgbClr val="18213F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6766560" y="31546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875270" y="3154680"/>
            <a:ext cx="1108710" cy="457200"/>
          </a:xfrm>
          <a:prstGeom prst="rect">
            <a:avLst/>
          </a:prstGeom>
          <a:solidFill>
            <a:srgbClr val="18213F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7875270" y="31546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983980" y="3154680"/>
            <a:ext cx="1108710" cy="457200"/>
          </a:xfrm>
          <a:prstGeom prst="rect">
            <a:avLst/>
          </a:prstGeom>
          <a:solidFill>
            <a:srgbClr val="18213F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 txBox="1"/>
          <p:nvPr/>
        </p:nvSpPr>
        <p:spPr>
          <a:xfrm>
            <a:off x="8983980" y="31546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10092690" y="3154680"/>
            <a:ext cx="1108710" cy="457200"/>
          </a:xfrm>
          <a:prstGeom prst="rect">
            <a:avLst/>
          </a:prstGeom>
          <a:solidFill>
            <a:srgbClr val="18213F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10092690" y="31546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72000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766560" y="36118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 txBox="1"/>
          <p:nvPr/>
        </p:nvSpPr>
        <p:spPr>
          <a:xfrm>
            <a:off x="6766560" y="36118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7875270" y="36118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 txBox="1"/>
          <p:nvPr/>
        </p:nvSpPr>
        <p:spPr>
          <a:xfrm>
            <a:off x="7875270" y="36118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983980" y="36118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8983980" y="36118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10092690" y="3611880"/>
            <a:ext cx="1108710" cy="457200"/>
          </a:xfrm>
          <a:prstGeom prst="rect">
            <a:avLst/>
          </a:prstGeom>
          <a:solidFill>
            <a:srgbClr val="1F2E52"/>
          </a:solidFill>
          <a:ln w="9525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10092690" y="3611880"/>
            <a:ext cx="1108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88000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6675120" y="4343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  id: Int  ·  name: String  ·  dept: String  ·  salary: Int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5166360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are named and typed — Spark knows the schema up front, which is what enables SQL-style queries and optimization.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393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DATAFRAMES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under the hood: the Catalyst optimizer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you write DataFrame code or SQL, Spark compiles it through the same optimization pipeline.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/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48840" y="2857500"/>
            <a:ext cx="292608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441448" y="23317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 w="1270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2441448" y="2331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41648" y="2857500"/>
            <a:ext cx="292608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34256" y="23317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 w="1270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334256" y="2331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34456" y="2857500"/>
            <a:ext cx="292608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27064" y="23317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 w="1270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227064" y="2331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Plan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27264" y="2857500"/>
            <a:ext cx="292608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119872" y="23317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 w="12700">
            <a:solidFill>
              <a:srgbClr val="3A48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119872" y="2331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7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Plan(s)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20072" y="2857500"/>
            <a:ext cx="292608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012680" y="2331720"/>
            <a:ext cx="1600200" cy="1051560"/>
          </a:xfrm>
          <a:prstGeom prst="roundRect">
            <a:avLst>
              <a:gd name="adj" fmla="val 8696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10012680" y="233172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RDDs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(executed)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792224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685032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577840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3520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C7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51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Catalyst optimizes the plan (not your literal code), DataFrame operations and equivalent SQL queries typically compile to the identical physical plan and run at the same speed.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94560" y="5349240"/>
            <a:ext cx="7772400" cy="868680"/>
          </a:xfrm>
          <a:prstGeom prst="roundRect">
            <a:avLst>
              <a:gd name="adj" fmla="val 10526"/>
            </a:avLst>
          </a:prstGeom>
          <a:solidFill>
            <a:srgbClr val="0F173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423160" y="53492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df.filter(df.dept == "Eng").select("name")   </a:t>
            </a:r>
            <a:r>
              <a:rPr lang="en-US" sz="11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≡</a:t>
            </a: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SELECT name FROM t WHERE dept = 'Eng'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DATAFRAMES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DataFrame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From a file (CSV, JSON, Parquet...)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spark.read.option("header", </a:t>
            </a:r>
            <a:r>
              <a:rPr lang="en-US" sz="11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)\
       .csv(</a:t>
            </a:r>
            <a:r>
              <a:rPr lang="en-US" sz="115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"employees.csv"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632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From an RDD or a list of rows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[(1, "Ana", 95000), (2, "Sam", 88000)]
df = spark.createDataFrame(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rows, 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["id","name","salary"]</a:t>
            </a: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72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From an existing DataFrame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9377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eng_df = df.filter(df.dept == "Eng")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155448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397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5379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 /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38060" y="2331720"/>
            <a:ext cx="1737360" cy="5943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21040" y="155448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397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32104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RDD / List of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21140" y="2331720"/>
            <a:ext cx="0" cy="5943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104120" y="155448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DFF7F1"/>
          </a:solidFill>
          <a:ln w="1397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1010412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04220" y="2331720"/>
            <a:ext cx="0" cy="5943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978140" y="30632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97814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75420" y="3840480"/>
            <a:ext cx="0" cy="411480"/>
          </a:xfrm>
          <a:prstGeom prst="line">
            <a:avLst/>
          </a:prstGeom>
          <a:noFill/>
          <a:ln w="19050">
            <a:solidFill>
              <a:srgbClr val="C7CCD8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903720" y="443484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903720" y="4434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inferred or supplied: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id: Int, name: String, salary: Int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4406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DataFrame carries a schema, whether it's inferred from the source or specified explicitly.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DATAFRAMES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Schemas: the structure behind the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1737360"/>
            <a:ext cx="4892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df.printSchema()
</a:t>
            </a:r>
            <a:r>
              <a:rPr lang="en-US" sz="1100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
</a:t>
            </a:r>
            <a:r>
              <a:rPr lang="en-US" sz="11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|-- id: integer (nullable = true)
 |-- name: string (nullable = true)
 |-- dept: string (nullable = true)
 |-- salary: long (nullable = true)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schema explicitly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4160520"/>
            <a:ext cx="4892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pyspark.sql.types import *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StructType([
</a:t>
            </a:r>
            <a:r>
              <a:rPr lang="en-US" sz="10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StructField("id", IntegerType()),
  StructField("name", StringType()),
  StructField("salary", LongType()),
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160020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30936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AS A TREE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78140" y="21945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978140" y="2194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3980" y="2743200"/>
            <a:ext cx="0" cy="3657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720840" y="3108960"/>
            <a:ext cx="1008126" cy="566928"/>
          </a:xfrm>
          <a:prstGeom prst="roundRect">
            <a:avLst>
              <a:gd name="adj" fmla="val 12903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720840" y="3154680"/>
            <a:ext cx="100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419856"/>
            <a:ext cx="1008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4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IntegerType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983980" y="2743200"/>
            <a:ext cx="0" cy="3657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893558" y="3108960"/>
            <a:ext cx="1008126" cy="566928"/>
          </a:xfrm>
          <a:prstGeom prst="roundRect">
            <a:avLst>
              <a:gd name="adj" fmla="val 12903"/>
            </a:avLst>
          </a:prstGeom>
          <a:solidFill>
            <a:srgbClr val="DFF7F1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893558" y="3154680"/>
            <a:ext cx="100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93558" y="3419856"/>
            <a:ext cx="1008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StringType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83980" y="2743200"/>
            <a:ext cx="586359" cy="3657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66276" y="3108960"/>
            <a:ext cx="1008126" cy="566928"/>
          </a:xfrm>
          <a:prstGeom prst="roundRect">
            <a:avLst>
              <a:gd name="adj" fmla="val 12903"/>
            </a:avLst>
          </a:prstGeom>
          <a:solidFill>
            <a:srgbClr val="FFE3D3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066276" y="3154680"/>
            <a:ext cx="100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066276" y="3419856"/>
            <a:ext cx="1008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347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StringType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983980" y="2743200"/>
            <a:ext cx="1759077" cy="365760"/>
          </a:xfrm>
          <a:prstGeom prst="line">
            <a:avLst/>
          </a:prstGeom>
          <a:noFill/>
          <a:ln w="15875">
            <a:solidFill>
              <a:srgbClr val="C7CC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0238994" y="3108960"/>
            <a:ext cx="1008126" cy="566928"/>
          </a:xfrm>
          <a:prstGeom prst="roundRect">
            <a:avLst>
              <a:gd name="adj" fmla="val 12903"/>
            </a:avLst>
          </a:prstGeom>
          <a:solidFill>
            <a:srgbClr val="DFF7F1"/>
          </a:solidFill>
          <a:ln w="12700">
            <a:solidFill>
              <a:srgbClr val="2FBF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10238994" y="3154680"/>
            <a:ext cx="10081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6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238994" y="3419856"/>
            <a:ext cx="10081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LongType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42062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validates types against the schema, enabling column pruning, predicate pushdown, and other Catalyst optimizations.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512064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EEF1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675120" y="51206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  </a:t>
            </a:r>
            <a:r>
              <a:rPr lang="en-US" sz="10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[('id','int'), ('name','string'), ...]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7C6F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SQL: one engine, two languages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lets you query DataFrames using standard SQL — registered as temporary views — right alongside DataFrame code.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API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df.filter(df.salary &gt; 90000)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.select("name")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0" y="2286000"/>
            <a:ext cx="4206240" cy="1371600"/>
          </a:xfrm>
          <a:prstGeom prst="roundRect">
            <a:avLst>
              <a:gd name="adj" fmla="val 8000"/>
            </a:avLst>
          </a:prstGeom>
          <a:solidFill>
            <a:srgbClr val="1F2E52"/>
          </a:solidFill>
          <a:ln w="19050">
            <a:solidFill>
              <a:srgbClr val="7C6F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040880" y="2423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6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SQL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834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t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E7EC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salary &gt; 90000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20640" y="2743200"/>
            <a:ext cx="1920240" cy="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1206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Catalyst plan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17520" y="3657600"/>
            <a:ext cx="0" cy="50292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9144000" y="3657600"/>
            <a:ext cx="0" cy="50292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4251960"/>
            <a:ext cx="10332720" cy="777240"/>
          </a:xfrm>
          <a:prstGeom prst="roundRect">
            <a:avLst>
              <a:gd name="adj" fmla="val 14118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14400" y="42519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Bridge:  df.createOrReplaceTempView("t")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7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Registering a DataFrame as a temp view exposes it to spark.sql(...) — both paths compile through the same optimizer and run identically.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7C6F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C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 Spark SQL query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Register the DataFrame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df.createOrReplaceTempView(</a:t>
            </a:r>
            <a:r>
              <a:rPr lang="en-US" sz="12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"employees"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20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Query it with plain SQL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spark.sql(</a:t>
            </a:r>
            <a:r>
              <a:rPr lang="en-US" sz="12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
    SELECT dept, AVG(salary) AS avg_sal
    FROM employees
    GROUP BY dept
    ORDER BY avg_sal DESC
"""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200" i="1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Use the result like any DataFrame
</a:t>
            </a: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result.show()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00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011680"/>
            <a:ext cx="1737360" cy="502920"/>
          </a:xfrm>
          <a:prstGeom prst="rect">
            <a:avLst/>
          </a:prstGeom>
          <a:solidFill>
            <a:srgbClr val="7C6F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4922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1737360" cy="502920"/>
          </a:xfrm>
          <a:prstGeom prst="rect">
            <a:avLst/>
          </a:prstGeom>
          <a:solidFill>
            <a:srgbClr val="7C6FE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avg_sal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1737360" cy="502920"/>
          </a:xfrm>
          <a:prstGeom prst="rect">
            <a:avLst/>
          </a:prstGeom>
          <a:solidFill>
            <a:srgbClr val="EAE7FB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9224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514600"/>
            <a:ext cx="1737360" cy="502920"/>
          </a:xfrm>
          <a:prstGeom prst="rect">
            <a:avLst/>
          </a:prstGeom>
          <a:solidFill>
            <a:srgbClr val="EAE7FB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229600" y="2514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91500.0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01752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9224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0" y="3017520"/>
            <a:ext cx="1737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822960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76200.0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520440"/>
            <a:ext cx="1737360" cy="502920"/>
          </a:xfrm>
          <a:prstGeom prst="rect">
            <a:avLst/>
          </a:prstGeom>
          <a:solidFill>
            <a:srgbClr val="EAE7FB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9224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0" y="3520440"/>
            <a:ext cx="1737360" cy="502920"/>
          </a:xfrm>
          <a:prstGeom prst="rect">
            <a:avLst/>
          </a:prstGeom>
          <a:solidFill>
            <a:srgbClr val="EAE7FB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229600" y="3520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68300.0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389120"/>
            <a:ext cx="5120640" cy="1691640"/>
          </a:xfrm>
          <a:prstGeom prst="roundRect">
            <a:avLst>
              <a:gd name="adj" fmla="val 5405"/>
            </a:avLst>
          </a:prstGeom>
          <a:solidFill>
            <a:srgbClr val="EAE7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766560" y="452628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D3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spark.sql() returns an ordinary DataFrame, you can freely mix SQL and DataFrame calls in the same pipeline — filter with SQL, then chain .withColumn() or .join() afterward.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OPERATIONS &amp; TRANSFORMATIONS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DataFrame operations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building blocks for shaping, filtering, and inspecting a DataFrame.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4805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select(cols)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a subset of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df.select("name", "salary")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filter() / where()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rows matching a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df.filter(df.salary &gt; 80000)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withColumn(name, expr)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or replaces a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df.withColumn("bonus", df.salary*0.1)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drop(col)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a 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df.drop("dept")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distinct()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duplicate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df.distinct()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orderBy() / sort()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Sorts rows by column(s)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df.orderBy(df.salary.desc())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show() / printSchema()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Displays data or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df.show(5)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393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OPERATIONS &amp; TRANSFORMATIONS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transformations on a DataFrame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RDDs, DataFrame transformations are lazy — they build a plan that only runs when an action is called.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19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rows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2240280"/>
            <a:ext cx="308610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2321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2823210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823210" y="22219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filter(active)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89170" y="2240280"/>
            <a:ext cx="308610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9778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097780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97780" y="22219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groupBy(dept)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63740" y="2240280"/>
            <a:ext cx="308610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37235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7372350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72350" y="22219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agg(avg salary)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338310" y="2240280"/>
            <a:ext cx="308610" cy="0"/>
          </a:xfrm>
          <a:prstGeom prst="line">
            <a:avLst/>
          </a:prstGeom>
          <a:noFill/>
          <a:ln w="19050">
            <a:solidFill>
              <a:srgbClr val="8892B0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646920" y="17830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1F2E52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646920" y="1856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22219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CF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orderBy(desc)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52085" y="2834640"/>
            <a:ext cx="0" cy="640080"/>
          </a:xfrm>
          <a:prstGeom prst="line">
            <a:avLst/>
          </a:prstGeom>
          <a:noFill/>
          <a:ln w="25400">
            <a:solidFill>
              <a:srgbClr val="2FBF9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566160" y="3474720"/>
            <a:ext cx="5029200" cy="868680"/>
          </a:xfrm>
          <a:prstGeom prst="roundRect">
            <a:avLst>
              <a:gd name="adj" fmla="val 12632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3566160" y="35478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Action:  df4.show()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execution of the ENTIRE chain, df → df4, across the cluster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1730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777240" y="4617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df.filter(df.active == True)\
            .groupBy("dept")\
            .agg(avg("salary").alias("avg_salary"))\
            .orderBy(col("avg_salary").desc())
</a:t>
            </a:r>
            <a:r>
              <a:rPr lang="en-US" sz="115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result.show()  </a:t>
            </a:r>
            <a:r>
              <a:rPr lang="en-US" sz="1150" i="1" dirty="0">
                <a:solidFill>
                  <a:srgbClr val="6C75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action fires now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OPERATIONS &amp; TRANSFORMATIONS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Joining DataFrames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types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E3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2585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matching rows on both sides (default).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862072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E3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/ left_outer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8803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rows; unmatched right columns are null.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3483864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E3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22960" y="348386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/ right_outer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5021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rows; unmatched left columns are null.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105656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E3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410565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/ outer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12394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sides, matched where possible.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727448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E3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822960" y="4727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left_semi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474573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rows that have a match — right columns dropped.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" y="53492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E3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22960" y="5349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347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left_anti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53675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rows that have NO match on the right.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16213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583680" y="1554480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emp.join(
</a:t>
            </a:r>
            <a:r>
              <a:rPr lang="en-US" sz="13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dept,
</a:t>
            </a:r>
            <a:r>
              <a:rPr lang="en-US" sz="13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emp.dept_id == dept.id,
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"inner"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49440" y="3383280"/>
            <a:ext cx="2377440" cy="18288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29600" y="3383280"/>
            <a:ext cx="2377440" cy="1828800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13232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2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9264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66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4069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5349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inner join keeps the overlap — rows present in both DataFrames on the join key.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PYSPARK SQL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pyspark.sql.functions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SQL brings SQL-style expressions into Python code via the </a:t>
            </a:r>
            <a:r>
              <a:rPr lang="en-US" sz="135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pyspark.sql.functions</a:t>
            </a: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module — commonly imported as </a:t>
            </a:r>
            <a:r>
              <a:rPr lang="en-US" sz="135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r>
              <a:rPr lang="en-US" sz="13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1605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Functions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refs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col(), lit(), expr()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F.col("salary") * 1.1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when() / otherwise()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F.when(F.col("age")&lt;18,"minor").otherwise("adult")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avg(), sum(), count(), max()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df.agg(F.avg("salary"))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upper(), concat(), substring()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F.concat(F.col("first"), F.lit(" "), F.col("last"))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current_date(), datediff()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F.datediff(F.current_date(), F.col("joined"))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isNull(), coalesce()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F.coalesce(F.col("bonus"), F.lit(0))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09728" cy="109728"/>
          </a:xfrm>
          <a:prstGeom prst="ellipse">
            <a:avLst/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68096" y="438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PYSPARK SQL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end-to-end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16213E"/>
          </a:solidFill>
          <a:ln/>
          <a:effectLst>
            <a:outerShdw blurRad="76200" dist="25400" dir="5400000" algn="bl" rotWithShape="0">
              <a:srgbClr val="0B0F1E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554480"/>
            <a:ext cx="594360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9A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pyspark.sql import functions as F
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spark.read.option("header", </a:t>
            </a:r>
            <a:r>
              <a:rPr lang="en-US" sz="10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)\
        .csv(</a:t>
            </a:r>
            <a:r>
              <a:rPr lang="en-US" sz="108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"employees.csv"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high_earners = (
    df.filter(F.col("salary") &gt; 80000)
      .withColumn(
</a:t>
            </a:r>
            <a:r>
              <a:rPr lang="en-US" sz="10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"bonus", F.col("salary") * 0.1)
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.groupBy("dept")
</a:t>
            </a:r>
            <a:r>
              <a:rPr lang="en-US" sz="108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.agg(F.count("*").alias("headcount"),
           F.avg("bonus").alias("avg_bonus"))
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.orderBy(F.col("avg_bonus").desc())
)
high_earners.createOrReplaceTempView(</a:t>
            </a:r>
            <a:r>
              <a:rPr lang="en-US" sz="108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"he"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spark.sql(</a:t>
            </a:r>
            <a:r>
              <a:rPr lang="en-US" sz="1080" dirty="0">
                <a:solidFill>
                  <a:srgbClr val="2FB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he LIMIT 5"</a:t>
            </a:r>
            <a:r>
              <a:rPr lang="en-US" sz="10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).show()</a:t>
            </a:r>
            <a:endParaRPr lang="en-US" sz="108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6002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965960"/>
            <a:ext cx="1432560" cy="457200"/>
          </a:xfrm>
          <a:prstGeom prst="rect">
            <a:avLst/>
          </a:prstGeom>
          <a:solidFill>
            <a:srgbClr val="2FB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0" y="19659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47760" y="1965960"/>
            <a:ext cx="1432560" cy="457200"/>
          </a:xfrm>
          <a:prstGeom prst="rect">
            <a:avLst/>
          </a:prstGeom>
          <a:solidFill>
            <a:srgbClr val="2FB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747760" y="19659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headcount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180320" y="1965960"/>
            <a:ext cx="1432560" cy="457200"/>
          </a:xfrm>
          <a:prstGeom prst="rect">
            <a:avLst/>
          </a:prstGeom>
          <a:solidFill>
            <a:srgbClr val="2FBF9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0180320" y="19659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avg_bonus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2423160"/>
            <a:ext cx="1432560" cy="457200"/>
          </a:xfrm>
          <a:prstGeom prst="rect">
            <a:avLst/>
          </a:prstGeom>
          <a:solidFill>
            <a:srgbClr val="DFF7F1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7315200" y="24231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747760" y="2423160"/>
            <a:ext cx="1432560" cy="457200"/>
          </a:xfrm>
          <a:prstGeom prst="rect">
            <a:avLst/>
          </a:prstGeom>
          <a:solidFill>
            <a:srgbClr val="DFF7F1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747760" y="24231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80320" y="2423160"/>
            <a:ext cx="1432560" cy="457200"/>
          </a:xfrm>
          <a:prstGeom prst="rect">
            <a:avLst/>
          </a:prstGeom>
          <a:solidFill>
            <a:srgbClr val="DFF7F1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10180320" y="24231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9840.0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2880360"/>
            <a:ext cx="1432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0" y="28803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47760" y="2880360"/>
            <a:ext cx="1432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747760" y="28803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80320" y="2880360"/>
            <a:ext cx="1432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10180320" y="28803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8120.0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15200" y="3337560"/>
            <a:ext cx="1432560" cy="457200"/>
          </a:xfrm>
          <a:prstGeom prst="rect">
            <a:avLst/>
          </a:prstGeom>
          <a:solidFill>
            <a:srgbClr val="DFF7F1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315200" y="33375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747760" y="3337560"/>
            <a:ext cx="1432560" cy="457200"/>
          </a:xfrm>
          <a:prstGeom prst="rect">
            <a:avLst/>
          </a:prstGeom>
          <a:solidFill>
            <a:srgbClr val="DFF7F1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8747760" y="33375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180320" y="3337560"/>
            <a:ext cx="1432560" cy="457200"/>
          </a:xfrm>
          <a:prstGeom prst="rect">
            <a:avLst/>
          </a:prstGeom>
          <a:solidFill>
            <a:srgbClr val="DFF7F1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10180320" y="3337560"/>
            <a:ext cx="143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7600.0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0" y="4114800"/>
            <a:ext cx="4297680" cy="2148840"/>
          </a:xfrm>
          <a:prstGeom prst="roundRect">
            <a:avLst>
              <a:gd name="adj" fmla="val 4255"/>
            </a:avLst>
          </a:prstGeom>
          <a:solidFill>
            <a:srgbClr val="DFF7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7543800" y="4251960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0F6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pipeline mixes DataFrame transformations (filter, withColumn, groupBy, agg, orderBy) with a Spark SQL query at the end — all compiled through the same Catalyst optimizer, and all lazy until .show() runs it.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3657600" cy="365760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-1463040"/>
            <a:ext cx="2926080" cy="2926080"/>
          </a:xfrm>
          <a:prstGeom prst="ellipse">
            <a:avLst/>
          </a:prstGeom>
          <a:solidFill>
            <a:srgbClr val="1F2E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57607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68096" y="484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8836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463040" y="173736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add structure  —  </a:t>
            </a:r>
            <a:r>
              <a:rPr lang="en-US" sz="125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typed columns and a schema make data tabular, and optimizable via Catalyst.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77240" y="29809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C6F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1463040" y="283464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and DataFrames are one engine  —  </a:t>
            </a:r>
            <a:r>
              <a:rPr lang="en-US" sz="125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createOrReplaceTempView() lets you query the same data with SQL or DataFrame code interchangeably.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77240" y="407822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1463040" y="393192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chain lazily  —  </a:t>
            </a:r>
            <a:r>
              <a:rPr lang="en-US" sz="125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filter, withColumn, groupBy, join build a plan; an action like show() executes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11A33"/>
          </a:solidFill>
          <a:ln w="12700">
            <a:solidFill>
              <a:srgbClr val="2A3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51755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FBF9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1463040" y="502920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SQL functions add expressiveness  —  </a:t>
            </a:r>
            <a:r>
              <a:rPr lang="en-US" sz="1250" dirty="0">
                <a:solidFill>
                  <a:srgbClr val="AEB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pyspark.sql.functions (F.col, F.when, F.avg...) brings SQL-style logic into Python code.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89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AA5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&amp; Spark SQL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1908</Words>
  <Application>Microsoft Office PowerPoint</Application>
  <PresentationFormat>Widescreen</PresentationFormat>
  <Paragraphs>298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Yasmeen Mahammad</cp:lastModifiedBy>
  <cp:revision>2</cp:revision>
  <dcterms:created xsi:type="dcterms:W3CDTF">2026-09-01T07:09:13Z</dcterms:created>
  <dcterms:modified xsi:type="dcterms:W3CDTF">2026-09-01T08:09:01Z</dcterms:modified>
</cp:coreProperties>
</file>