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3" d="100"/>
          <a:sy n="73" d="100"/>
        </p:scale>
        <p:origin x="380" y="-2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5827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206240"/>
            <a:ext cx="3291840" cy="3291840"/>
          </a:xfrm>
          <a:prstGeom prst="ellipse">
            <a:avLst/>
          </a:prstGeom>
          <a:solidFill>
            <a:srgbClr val="1F2E5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0332720" y="4846320"/>
            <a:ext cx="2011680" cy="201168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0744200" y="5257800"/>
            <a:ext cx="1188720" cy="118872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-1097280" y="-1280160"/>
            <a:ext cx="2743200" cy="2743200"/>
          </a:xfrm>
          <a:prstGeom prst="ellipse">
            <a:avLst/>
          </a:prstGeom>
          <a:solidFill>
            <a:srgbClr val="1F2E5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731520" y="1554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SPARK  ·  CORE CONCEPTS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965960"/>
            <a:ext cx="9144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Spark RDDs</a:t>
            </a:r>
            <a:endParaRPr lang="en-US" sz="60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063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C7CF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Resilient Distributed Datasets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731520" y="3977640"/>
            <a:ext cx="2080260" cy="457200"/>
          </a:xfrm>
          <a:prstGeom prst="roundRect">
            <a:avLst>
              <a:gd name="adj" fmla="val 50000"/>
            </a:avLst>
          </a:prstGeom>
          <a:solidFill>
            <a:srgbClr val="1F2E52"/>
          </a:solidFill>
          <a:ln w="12700">
            <a:solidFill>
              <a:srgbClr val="3440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731520" y="3977640"/>
            <a:ext cx="20802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7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Basics &amp; Properties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040380" y="3977640"/>
            <a:ext cx="2656332" cy="457200"/>
          </a:xfrm>
          <a:prstGeom prst="roundRect">
            <a:avLst>
              <a:gd name="adj" fmla="val 50000"/>
            </a:avLst>
          </a:prstGeom>
          <a:solidFill>
            <a:srgbClr val="1F2E52"/>
          </a:solidFill>
          <a:ln w="12700">
            <a:solidFill>
              <a:srgbClr val="3440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3040380" y="3977640"/>
            <a:ext cx="26563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7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Transformations &amp; Actions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25312" y="3977640"/>
            <a:ext cx="2272284" cy="457200"/>
          </a:xfrm>
          <a:prstGeom prst="roundRect">
            <a:avLst>
              <a:gd name="adj" fmla="val 50000"/>
            </a:avLst>
          </a:prstGeom>
          <a:solidFill>
            <a:srgbClr val="1F2E52"/>
          </a:solidFill>
          <a:ln w="12700">
            <a:solidFill>
              <a:srgbClr val="3440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5925312" y="3977640"/>
            <a:ext cx="22722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7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Caching &amp; Persistence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57607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 walkthrough of Spark's foundational abstraction for fault-tolerant, in-memory distributed computation.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30352"/>
            <a:ext cx="109728" cy="109728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768096" y="4389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520440" cy="4023360"/>
          </a:xfrm>
          <a:prstGeom prst="roundRect">
            <a:avLst>
              <a:gd name="adj" fmla="val 3117"/>
            </a:avLst>
          </a:prstGeom>
          <a:solidFill>
            <a:srgbClr val="F6F7FA"/>
          </a:solidFill>
          <a:ln/>
          <a:effectLst>
            <a:outerShdw blurRad="76200" dist="25400" dir="5400000" algn="bl" rotWithShape="0">
              <a:srgbClr val="0B0F1E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868680" y="2240280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16213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868680" y="22402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2461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RDD Basics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84048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an RDD is, its core properties, and how RDDs are created and partitioned across a cluster.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89120" y="1874520"/>
            <a:ext cx="3520440" cy="4023360"/>
          </a:xfrm>
          <a:prstGeom prst="roundRect">
            <a:avLst>
              <a:gd name="adj" fmla="val 3117"/>
            </a:avLst>
          </a:prstGeom>
          <a:solidFill>
            <a:srgbClr val="F6F7FA"/>
          </a:solidFill>
          <a:ln/>
          <a:effectLst>
            <a:outerShdw blurRad="76200" dist="25400" dir="5400000" algn="bl" rotWithShape="0">
              <a:srgbClr val="0B0F1E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709160" y="2240280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FF6B3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4709160" y="22402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4709160" y="32461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Transformations &amp; Actions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4709160" y="384048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operation types, lazy evaluation, lineage graphs, and common examples of each.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29600" y="1874520"/>
            <a:ext cx="3520440" cy="4023360"/>
          </a:xfrm>
          <a:prstGeom prst="roundRect">
            <a:avLst>
              <a:gd name="adj" fmla="val 3117"/>
            </a:avLst>
          </a:prstGeom>
          <a:solidFill>
            <a:srgbClr val="F6F7FA"/>
          </a:solidFill>
          <a:ln/>
          <a:effectLst>
            <a:outerShdw blurRad="76200" dist="25400" dir="5400000" algn="bl" rotWithShape="0">
              <a:srgbClr val="0B0F1E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8549640" y="2240280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2FBF9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8549640" y="22402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8549640" y="32461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Caching &amp; Persistence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8549640" y="384048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recomputation is costly, how cache()/persist() help, and choosing a storage level.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RDDs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30352"/>
            <a:ext cx="109728" cy="109728"/>
          </a:xfrm>
          <a:prstGeom prst="ellipse">
            <a:avLst/>
          </a:prstGeom>
          <a:solidFill>
            <a:srgbClr val="16213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768096" y="4389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RDD BASICS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858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an RDD?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5212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Resilient Distributed Dataset (RDD) is Spark's fundamental data structure: </a:t>
            </a:r>
            <a:r>
              <a:rPr lang="en-US" sz="15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immutable, partitioned collection of records</a:t>
            </a:r>
            <a:r>
              <a:rPr lang="en-US" sz="15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that can be processed in parallel across the nodes of a cluster.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843784"/>
            <a:ext cx="128016" cy="128016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804672" y="267004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Resilient  </a:t>
            </a: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Rebuilt automatically after node failure using lineage.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410712"/>
            <a:ext cx="128016" cy="128016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804672" y="3236976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 </a:t>
            </a: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into partitions spread across cluster machines.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977640"/>
            <a:ext cx="128016" cy="128016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804672" y="3803904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 </a:t>
            </a: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modified in place — transformations create new RDDs.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544568"/>
            <a:ext cx="128016" cy="128016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804672" y="437083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Lazily evaluated  </a:t>
            </a: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 is deferred until an action is called.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63640" y="1463040"/>
            <a:ext cx="5394960" cy="4206240"/>
          </a:xfrm>
          <a:prstGeom prst="roundRect">
            <a:avLst>
              <a:gd name="adj" fmla="val 3043"/>
            </a:avLst>
          </a:prstGeom>
          <a:solidFill>
            <a:srgbClr val="16213E"/>
          </a:solidFill>
          <a:ln/>
          <a:effectLst>
            <a:outerShdw blurRad="76200" dist="25400" dir="5400000" algn="bl" rotWithShape="0">
              <a:srgbClr val="0B0F1E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6263640" y="16916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RDD  →  PHYSICAL PARTITIONS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955280" y="2103120"/>
            <a:ext cx="2011680" cy="59436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7955280" y="21031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RDD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961120" y="2697480"/>
            <a:ext cx="0" cy="457200"/>
          </a:xfrm>
          <a:prstGeom prst="line">
            <a:avLst/>
          </a:prstGeom>
          <a:noFill/>
          <a:ln w="19050">
            <a:solidFill>
              <a:srgbClr val="3A48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6629400" y="3154680"/>
            <a:ext cx="1828800" cy="868680"/>
          </a:xfrm>
          <a:prstGeom prst="roundRect">
            <a:avLst>
              <a:gd name="adj" fmla="val 10526"/>
            </a:avLst>
          </a:prstGeom>
          <a:solidFill>
            <a:srgbClr val="1F2E52"/>
          </a:solidFill>
          <a:ln w="15875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6629400" y="32278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 1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629400" y="3566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7C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...records ]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629400" y="429768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0F173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 txBox="1"/>
          <p:nvPr/>
        </p:nvSpPr>
        <p:spPr>
          <a:xfrm>
            <a:off x="6629400" y="42976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Node 1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961120" y="2697480"/>
            <a:ext cx="0" cy="457200"/>
          </a:xfrm>
          <a:prstGeom prst="line">
            <a:avLst/>
          </a:prstGeom>
          <a:noFill/>
          <a:ln w="19050">
            <a:solidFill>
              <a:srgbClr val="3A48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8046720" y="3154680"/>
            <a:ext cx="1828800" cy="868680"/>
          </a:xfrm>
          <a:prstGeom prst="roundRect">
            <a:avLst>
              <a:gd name="adj" fmla="val 10526"/>
            </a:avLst>
          </a:prstGeom>
          <a:solidFill>
            <a:srgbClr val="1F2E52"/>
          </a:solidFill>
          <a:ln w="15875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 txBox="1"/>
          <p:nvPr/>
        </p:nvSpPr>
        <p:spPr>
          <a:xfrm>
            <a:off x="8046720" y="32278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 2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046720" y="3566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7C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...records ]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046720" y="429768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0F173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 txBox="1"/>
          <p:nvPr/>
        </p:nvSpPr>
        <p:spPr>
          <a:xfrm>
            <a:off x="8046720" y="42976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Node 2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961120" y="2697480"/>
            <a:ext cx="1417320" cy="457200"/>
          </a:xfrm>
          <a:prstGeom prst="line">
            <a:avLst/>
          </a:prstGeom>
          <a:noFill/>
          <a:ln w="19050">
            <a:solidFill>
              <a:srgbClr val="3A48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9464040" y="3154680"/>
            <a:ext cx="1828800" cy="868680"/>
          </a:xfrm>
          <a:prstGeom prst="roundRect">
            <a:avLst>
              <a:gd name="adj" fmla="val 10526"/>
            </a:avLst>
          </a:prstGeom>
          <a:solidFill>
            <a:srgbClr val="1F2E52"/>
          </a:solidFill>
          <a:ln w="15875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 txBox="1"/>
          <p:nvPr/>
        </p:nvSpPr>
        <p:spPr>
          <a:xfrm>
            <a:off x="9464040" y="32278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 3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9464040" y="3566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7C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...records ]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9464040" y="429768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0F173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 txBox="1"/>
          <p:nvPr/>
        </p:nvSpPr>
        <p:spPr>
          <a:xfrm>
            <a:off x="9464040" y="42976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Node 3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6583680" y="510235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partition is processed independently and in parallel by an executor on a worker node.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RDDs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30352"/>
            <a:ext cx="109728" cy="109728"/>
          </a:xfrm>
          <a:prstGeom prst="ellipse">
            <a:avLst/>
          </a:prstGeom>
          <a:solidFill>
            <a:srgbClr val="16213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768096" y="4389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RDD BASICS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properties of RDDs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56616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B0F1E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804672" y="1837944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6213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804672" y="1837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423160"/>
            <a:ext cx="3054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In-Memory Computation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2788920"/>
            <a:ext cx="30540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intermediate data in RAM across operations, avoiding costly disk I/O between steps.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70832" y="1600200"/>
            <a:ext cx="356616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B0F1E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26864" y="1837944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F6B3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4626864" y="1837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626864" y="2423160"/>
            <a:ext cx="3054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Fault Tolerance via Lineage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4626864" y="2788920"/>
            <a:ext cx="30540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the sequence of transformations (lineage graph) so lost partitions can be recomputed.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193024" y="1600200"/>
            <a:ext cx="356616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B0F1E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8449056" y="1837944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6213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8449056" y="1837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449056" y="2423160"/>
            <a:ext cx="3054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Partitioned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8449056" y="2788920"/>
            <a:ext cx="30540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divided into partitions — the unit of parallelism — distributed across the cluster.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776472"/>
            <a:ext cx="356616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B0F1E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804672" y="4014216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F6B3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 txBox="1"/>
          <p:nvPr/>
        </p:nvSpPr>
        <p:spPr>
          <a:xfrm>
            <a:off x="804672" y="40142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804672" y="4599432"/>
            <a:ext cx="3054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Immutable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804672" y="4965192"/>
            <a:ext cx="30540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created, an RDD cannot change; operations always produce a brand-new RDD.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370832" y="3776472"/>
            <a:ext cx="356616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B0F1E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4626864" y="4014216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6213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 txBox="1"/>
          <p:nvPr/>
        </p:nvSpPr>
        <p:spPr>
          <a:xfrm>
            <a:off x="4626864" y="40142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4626864" y="4599432"/>
            <a:ext cx="3054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Lazy Evaluation</a:t>
            </a:r>
            <a:endParaRPr lang="en-US" sz="1450" dirty="0"/>
          </a:p>
        </p:txBody>
      </p:sp>
      <p:sp>
        <p:nvSpPr>
          <p:cNvPr id="29" name="Text 27"/>
          <p:cNvSpPr txBox="1"/>
          <p:nvPr/>
        </p:nvSpPr>
        <p:spPr>
          <a:xfrm>
            <a:off x="4626864" y="4965192"/>
            <a:ext cx="30540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Transformations just build a plan; nothing runs until an action requests a result.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193024" y="3776472"/>
            <a:ext cx="356616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B0F1E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8449056" y="4014216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F6B3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 txBox="1"/>
          <p:nvPr/>
        </p:nvSpPr>
        <p:spPr>
          <a:xfrm>
            <a:off x="8449056" y="40142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8449056" y="4599432"/>
            <a:ext cx="3054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Type-Safe &amp; Generic</a:t>
            </a:r>
            <a:endParaRPr lang="en-US" sz="1450" dirty="0"/>
          </a:p>
        </p:txBody>
      </p:sp>
      <p:sp>
        <p:nvSpPr>
          <p:cNvPr id="34" name="Text 32"/>
          <p:cNvSpPr txBox="1"/>
          <p:nvPr/>
        </p:nvSpPr>
        <p:spPr>
          <a:xfrm>
            <a:off x="8449056" y="4965192"/>
            <a:ext cx="30540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RDD[T] can hold any JVM object, structured or unstructured, with compile-time type checks.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RDDs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30352"/>
            <a:ext cx="109728" cy="109728"/>
          </a:xfrm>
          <a:prstGeom prst="ellipse">
            <a:avLst/>
          </a:prstGeom>
          <a:solidFill>
            <a:srgbClr val="16213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768096" y="4389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RDD BASICS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858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Creating an RDD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Parallelizing a collection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5486400" cy="960120"/>
          </a:xfrm>
          <a:prstGeom prst="roundRect">
            <a:avLst>
              <a:gd name="adj" fmla="val 7619"/>
            </a:avLst>
          </a:prstGeom>
          <a:solidFill>
            <a:srgbClr val="16213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777240" y="1920240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AA5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= [1, 2, 3, 4, 5]
</a:t>
            </a: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rdd = spark.sparkContext.parallelize(data, </a:t>
            </a:r>
            <a:r>
              <a:rPr lang="en-US" sz="1250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063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Loading an external dataset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429000"/>
            <a:ext cx="5486400" cy="960120"/>
          </a:xfrm>
          <a:prstGeom prst="roundRect">
            <a:avLst>
              <a:gd name="adj" fmla="val 7619"/>
            </a:avLst>
          </a:prstGeom>
          <a:solidFill>
            <a:srgbClr val="16213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777240" y="3429000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rdd = spark.sparkContext.textFile(
</a:t>
            </a:r>
            <a:r>
              <a:rPr lang="en-US" sz="1250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"hdfs://logs/access.log"
</a:t>
            </a: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572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Transforming an existing RDD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937760"/>
            <a:ext cx="5486400" cy="685800"/>
          </a:xfrm>
          <a:prstGeom prst="roundRect">
            <a:avLst>
              <a:gd name="adj" fmla="val 10667"/>
            </a:avLst>
          </a:prstGeom>
          <a:solidFill>
            <a:srgbClr val="16213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777240" y="493776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new_rdd = rdd.map(lambda x: x * 2)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92240" y="1554480"/>
            <a:ext cx="1828800" cy="777240"/>
          </a:xfrm>
          <a:prstGeom prst="roundRect">
            <a:avLst>
              <a:gd name="adj" fmla="val 11765"/>
            </a:avLst>
          </a:prstGeom>
          <a:solidFill>
            <a:srgbClr val="DFF7F1"/>
          </a:solidFill>
          <a:ln w="15875">
            <a:solidFill>
              <a:srgbClr val="2FBF9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6492240" y="155448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F6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/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F6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/ HDFS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406640" y="2331720"/>
            <a:ext cx="0" cy="502920"/>
          </a:xfrm>
          <a:prstGeom prst="line">
            <a:avLst/>
          </a:prstGeom>
          <a:noFill/>
          <a:ln w="19050">
            <a:solidFill>
              <a:srgbClr val="C7CCD8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217920" y="2880360"/>
            <a:ext cx="2377440" cy="777240"/>
          </a:xfrm>
          <a:prstGeom prst="roundRect">
            <a:avLst>
              <a:gd name="adj" fmla="val 11765"/>
            </a:avLst>
          </a:prstGeom>
          <a:solidFill>
            <a:srgbClr val="16213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6217920" y="28803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RDD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406640" y="3657600"/>
            <a:ext cx="0" cy="457200"/>
          </a:xfrm>
          <a:prstGeom prst="line">
            <a:avLst/>
          </a:prstGeom>
          <a:noFill/>
          <a:ln w="19050">
            <a:solidFill>
              <a:srgbClr val="C7CCD8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5577840" y="4114800"/>
            <a:ext cx="1417320" cy="594360"/>
          </a:xfrm>
          <a:prstGeom prst="roundRect">
            <a:avLst>
              <a:gd name="adj" fmla="val 12308"/>
            </a:avLst>
          </a:prstGeom>
          <a:solidFill>
            <a:srgbClr val="FFE3D3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5577840" y="411480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347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812280" y="4114800"/>
            <a:ext cx="1417320" cy="594360"/>
          </a:xfrm>
          <a:prstGeom prst="roundRect">
            <a:avLst>
              <a:gd name="adj" fmla="val 12308"/>
            </a:avLst>
          </a:prstGeom>
          <a:solidFill>
            <a:srgbClr val="FFE3D3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 txBox="1"/>
          <p:nvPr/>
        </p:nvSpPr>
        <p:spPr>
          <a:xfrm>
            <a:off x="6812280" y="411480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347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046720" y="4114800"/>
            <a:ext cx="1417320" cy="594360"/>
          </a:xfrm>
          <a:prstGeom prst="roundRect">
            <a:avLst>
              <a:gd name="adj" fmla="val 12308"/>
            </a:avLst>
          </a:prstGeom>
          <a:solidFill>
            <a:srgbClr val="FFE3D3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 txBox="1"/>
          <p:nvPr/>
        </p:nvSpPr>
        <p:spPr>
          <a:xfrm>
            <a:off x="8046720" y="411480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347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217920" y="498348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RDD is created from a data source, then divided into partitions ready for distributed processing.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RDDs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30352"/>
            <a:ext cx="109728" cy="109728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768096" y="4389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TRANSFORMATIONS &amp; ACTIONS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858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Transformations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that produce a new RDD from an existing one. They are lazy — Spark only records the operation.</a:t>
            </a:r>
            <a:endParaRPr lang="en-US" sz="13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429768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F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map(f)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Applies f to every element, 1-to-1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F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rdd.map(lambda x: x*2)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F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filter(f)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Keeps elements where f is true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F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rdd.filter(lambda x: x % 2 == 0)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F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flatMap(f)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Maps then flattens results, 1-to-many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F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lines.flatMap(lambda l: l.split(" "))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F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distinct()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Removes duplicate elements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F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rdd.distinct()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F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union(other)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Combines two RDDs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F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rdd1.union(rdd2)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F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reduceByKey(f)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Aggregates values per key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F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pairs.reduceByKey(lambda a,b: a+b)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F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join(other)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Inner-joins two pair RDDs by key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F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rdd1.join(rdd2)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 4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RDDs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84632"/>
            <a:ext cx="109728" cy="109728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768096" y="3931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TRANSFORMATIONS &amp; ACTIONS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5836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Chaining transformations builds a lineage graph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2331720" cy="960120"/>
          </a:xfrm>
          <a:prstGeom prst="roundRect">
            <a:avLst>
              <a:gd name="adj" fmla="val 9524"/>
            </a:avLst>
          </a:prstGeom>
          <a:solidFill>
            <a:srgbClr val="1F2E52"/>
          </a:solidFill>
          <a:ln w="15875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548640" y="149047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RDD0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89280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7C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raw text lines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880360" y="1897380"/>
            <a:ext cx="579120" cy="0"/>
          </a:xfrm>
          <a:prstGeom prst="line">
            <a:avLst/>
          </a:prstGeom>
          <a:noFill/>
          <a:ln w="22225">
            <a:solidFill>
              <a:srgbClr val="8892B0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3459480" y="1417320"/>
            <a:ext cx="2331720" cy="960120"/>
          </a:xfrm>
          <a:prstGeom prst="roundRect">
            <a:avLst>
              <a:gd name="adj" fmla="val 9524"/>
            </a:avLst>
          </a:prstGeom>
          <a:solidFill>
            <a:srgbClr val="1F2E52"/>
          </a:solidFill>
          <a:ln w="15875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3459480" y="149047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RDD1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459480" y="189280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7C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flatMap(split)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791200" y="1897380"/>
            <a:ext cx="579120" cy="0"/>
          </a:xfrm>
          <a:prstGeom prst="line">
            <a:avLst/>
          </a:prstGeom>
          <a:noFill/>
          <a:ln w="22225">
            <a:solidFill>
              <a:srgbClr val="8892B0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370320" y="1417320"/>
            <a:ext cx="2331720" cy="960120"/>
          </a:xfrm>
          <a:prstGeom prst="roundRect">
            <a:avLst>
              <a:gd name="adj" fmla="val 9524"/>
            </a:avLst>
          </a:prstGeom>
          <a:solidFill>
            <a:srgbClr val="1F2E52"/>
          </a:solidFill>
          <a:ln w="15875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6370320" y="149047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RDD2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370320" y="189280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7C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map(word,1)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702040" y="1897380"/>
            <a:ext cx="579120" cy="0"/>
          </a:xfrm>
          <a:prstGeom prst="line">
            <a:avLst/>
          </a:prstGeom>
          <a:noFill/>
          <a:ln w="22225">
            <a:solidFill>
              <a:srgbClr val="8892B0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9281160" y="1417320"/>
            <a:ext cx="2331720" cy="960120"/>
          </a:xfrm>
          <a:prstGeom prst="roundRect">
            <a:avLst>
              <a:gd name="adj" fmla="val 9524"/>
            </a:avLst>
          </a:prstGeom>
          <a:solidFill>
            <a:srgbClr val="1F2E52"/>
          </a:solidFill>
          <a:ln w="15875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9281160" y="149047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RDD3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9281160" y="189280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7C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reduceByKey(+)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257860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arrow is recorded as lineage — a plan, not a computed result.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080760" y="2944368"/>
            <a:ext cx="0" cy="393192"/>
          </a:xfrm>
          <a:prstGeom prst="line">
            <a:avLst/>
          </a:prstGeom>
          <a:noFill/>
          <a:ln w="25400">
            <a:solidFill>
              <a:srgbClr val="2FBF9F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3566160" y="3337560"/>
            <a:ext cx="5029200" cy="868680"/>
          </a:xfrm>
          <a:prstGeom prst="roundRect">
            <a:avLst>
              <a:gd name="adj" fmla="val 12632"/>
            </a:avLst>
          </a:prstGeom>
          <a:solidFill>
            <a:srgbClr val="2FBF9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 txBox="1"/>
          <p:nvPr/>
        </p:nvSpPr>
        <p:spPr>
          <a:xfrm>
            <a:off x="3566160" y="3410712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Action:  rdd3.collect()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3566160" y="381304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B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execution of the ENTIRE chain, RDD0 → RDD3, across the cluster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448056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0F1730"/>
          </a:solidFill>
          <a:ln w="12700">
            <a:solidFill>
              <a:srgbClr val="2A35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 txBox="1"/>
          <p:nvPr/>
        </p:nvSpPr>
        <p:spPr>
          <a:xfrm>
            <a:off x="777240" y="4480560"/>
            <a:ext cx="10607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AA5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words = </a:t>
            </a: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sc.textFile("in.txt")\
  .flatMap(lambda l: l.split(" "))\
  .map(lambda w: (w, 1))\
  .reduceByKey(lambda a, b: a + b)
</a:t>
            </a:r>
            <a:r>
              <a:rPr lang="en-US" sz="1100" dirty="0">
                <a:solidFill>
                  <a:srgbClr val="9AA5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</a:t>
            </a:r>
            <a:r>
              <a:rPr lang="en-US" sz="1100" dirty="0">
                <a:solidFill>
                  <a:srgbClr val="2FB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words.collect()  </a:t>
            </a:r>
            <a:r>
              <a:rPr lang="en-US" sz="1100" i="1" dirty="0">
                <a:solidFill>
                  <a:srgbClr val="6C75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action fires now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RDDs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30352"/>
            <a:ext cx="109728" cy="109728"/>
          </a:xfrm>
          <a:prstGeom prst="ellipse">
            <a:avLst/>
          </a:prstGeom>
          <a:solidFill>
            <a:srgbClr val="2FBF9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768096" y="4389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F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TRANSFORMATIONS &amp; ACTIONS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858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Actions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that trigger computation of the DAG and return a value to the driver, or write output.</a:t>
            </a:r>
            <a:endParaRPr lang="en-US" sz="13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374904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BF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BF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B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collect()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Returns all elements to the driver as a list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rdd.collect()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count()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Returns the number of elements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rdd.count()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first() / take(n)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Returns the first element, or first n elements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rdd.take(5)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reduce(f)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Aggregates all elements using f, returns one value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rdd.reduce(lambda a,b: a+b)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saveAsTextFile(p)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Writes the RDD's contents to storage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rdd.saveAsTextFile("out/")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foreach(f)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Applies f to each element for its side effect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rdd.foreach(print)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806440"/>
            <a:ext cx="11064240" cy="594360"/>
          </a:xfrm>
          <a:prstGeom prst="roundRect">
            <a:avLst>
              <a:gd name="adj" fmla="val 12308"/>
            </a:avLst>
          </a:prstGeom>
          <a:solidFill>
            <a:srgbClr val="DFF7F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 txBox="1"/>
          <p:nvPr/>
        </p:nvSpPr>
        <p:spPr>
          <a:xfrm>
            <a:off x="777240" y="580644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0F6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  transformations are the recipe; an action is the order that gets it cooked.</a:t>
            </a:r>
            <a:endParaRPr lang="en-US" sz="1300" dirty="0"/>
          </a:p>
        </p:txBody>
      </p:sp>
      <p:sp>
        <p:nvSpPr>
          <p:cNvPr id="6" name="Text 6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RDDs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30352"/>
            <a:ext cx="109728" cy="109728"/>
          </a:xfrm>
          <a:prstGeom prst="ellipse">
            <a:avLst/>
          </a:prstGeom>
          <a:solidFill>
            <a:srgbClr val="16213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768096" y="4389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TRANSFORMATIONS &amp; ACTIONS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858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Lazy evaluation, in two phases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349240" cy="4389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9050">
            <a:solidFill>
              <a:srgbClr val="FF6B35"/>
            </a:solidFill>
            <a:prstDash val="solid"/>
          </a:ln>
          <a:effectLst>
            <a:outerShdw blurRad="76200" dist="25400" dir="5400000" algn="bl" rotWithShape="0">
              <a:srgbClr val="0B0F1E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5349240" cy="594360"/>
          </a:xfrm>
          <a:prstGeom prst="roundRect">
            <a:avLst>
              <a:gd name="adj" fmla="val 18462"/>
            </a:avLst>
          </a:prstGeom>
          <a:solidFill>
            <a:srgbClr val="FF6B3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548640" y="1600200"/>
            <a:ext cx="5349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 ·  BUILD THE PLAN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37744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Transformations only update the lineage graph (a DAG of operations). No data moves and nothing is computed yet.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68680" y="329184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FFE3D3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868680" y="329184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347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textFile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920240" y="3543300"/>
            <a:ext cx="182880" cy="0"/>
          </a:xfrm>
          <a:prstGeom prst="line">
            <a:avLst/>
          </a:prstGeom>
          <a:noFill/>
          <a:ln w="19050">
            <a:solidFill>
              <a:srgbClr val="FF6B35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103120" y="329184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FFE3D3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2103120" y="329184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347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flatMap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154680" y="3543300"/>
            <a:ext cx="182880" cy="0"/>
          </a:xfrm>
          <a:prstGeom prst="line">
            <a:avLst/>
          </a:prstGeom>
          <a:noFill/>
          <a:ln w="19050">
            <a:solidFill>
              <a:srgbClr val="FF6B35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3337560" y="329184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FFE3D3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3337560" y="329184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347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389120" y="3543300"/>
            <a:ext cx="182880" cy="0"/>
          </a:xfrm>
          <a:prstGeom prst="line">
            <a:avLst/>
          </a:prstGeom>
          <a:noFill/>
          <a:ln w="19050">
            <a:solidFill>
              <a:srgbClr val="FF6B35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572000" y="329184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FFE3D3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 txBox="1"/>
          <p:nvPr/>
        </p:nvSpPr>
        <p:spPr>
          <a:xfrm>
            <a:off x="4572000" y="329184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347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reduceByKey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868680" y="406908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has run yet — only a plan (DAG) exists in the driver.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868680" y="45720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Benefits: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868680" y="4937760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Spark can optimize the whole DAG before running it
•  Avoids materializing unnecessary intermediate data
•  Combines narrow transformations into single stages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263640" y="1600200"/>
            <a:ext cx="5349240" cy="4389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9050">
            <a:solidFill>
              <a:srgbClr val="2FBF9F"/>
            </a:solidFill>
            <a:prstDash val="solid"/>
          </a:ln>
          <a:effectLst>
            <a:outerShdw blurRad="76200" dist="25400" dir="5400000" algn="bl" rotWithShape="0">
              <a:srgbClr val="0B0F1E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6263640" y="1600200"/>
            <a:ext cx="5349240" cy="594360"/>
          </a:xfrm>
          <a:prstGeom prst="roundRect">
            <a:avLst>
              <a:gd name="adj" fmla="val 18462"/>
            </a:avLst>
          </a:prstGeom>
          <a:solidFill>
            <a:srgbClr val="2FBF9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 txBox="1"/>
          <p:nvPr/>
        </p:nvSpPr>
        <p:spPr>
          <a:xfrm>
            <a:off x="6263640" y="1600200"/>
            <a:ext cx="5349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·  EXECUTE ON ACTION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583680" y="237744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Calling an action (e.g. collect(), count()) tells Spark to run the DAG: it schedules tasks and ships them to executors.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766560" y="3291840"/>
            <a:ext cx="2011680" cy="685800"/>
          </a:xfrm>
          <a:prstGeom prst="roundRect">
            <a:avLst>
              <a:gd name="adj" fmla="val 10667"/>
            </a:avLst>
          </a:prstGeom>
          <a:solidFill>
            <a:srgbClr val="DFF7F1"/>
          </a:solidFill>
          <a:ln w="12700">
            <a:solidFill>
              <a:srgbClr val="2FBF9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 txBox="1"/>
          <p:nvPr/>
        </p:nvSpPr>
        <p:spPr>
          <a:xfrm>
            <a:off x="6766560" y="33832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6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766560" y="3657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F6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parallel tasks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8778240" y="3634740"/>
            <a:ext cx="365760" cy="0"/>
          </a:xfrm>
          <a:prstGeom prst="line">
            <a:avLst/>
          </a:prstGeom>
          <a:noFill/>
          <a:ln w="19050">
            <a:solidFill>
              <a:srgbClr val="2FBF9F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9144000" y="3291840"/>
            <a:ext cx="2011680" cy="685800"/>
          </a:xfrm>
          <a:prstGeom prst="roundRect">
            <a:avLst>
              <a:gd name="adj" fmla="val 10667"/>
            </a:avLst>
          </a:prstGeom>
          <a:solidFill>
            <a:srgbClr val="DFF7F1"/>
          </a:solidFill>
          <a:ln w="12700">
            <a:solidFill>
              <a:srgbClr val="2FBF9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 txBox="1"/>
          <p:nvPr/>
        </p:nvSpPr>
        <p:spPr>
          <a:xfrm>
            <a:off x="9144000" y="33832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6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9144000" y="3657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F6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parallel tasks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6583680" y="416052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stream back to the driver (or are written to storage).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6583680" y="45720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 for: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6583680" y="4937760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Each action re-runs the DAG from scratch by default
•  Repeated actions on the same RDD repeat all work
</a:t>
            </a:r>
            <a:r>
              <a:rPr lang="en-US" sz="11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Solution: caching / persistence — coming up next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RDDs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30352"/>
            <a:ext cx="109728" cy="109728"/>
          </a:xfrm>
          <a:prstGeom prst="ellipse">
            <a:avLst/>
          </a:prstGeom>
          <a:solidFill>
            <a:srgbClr val="2FBF9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768096" y="4389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F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CACHING &amp; PERSISTENCE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cache an RDD?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default, Spark recomputes an RDD's full lineage every time an action needs it.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5349240" cy="4114800"/>
          </a:xfrm>
          <a:prstGeom prst="roundRect">
            <a:avLst>
              <a:gd name="adj" fmla="val 2667"/>
            </a:avLst>
          </a:prstGeom>
          <a:solidFill>
            <a:srgbClr val="FDF2F0"/>
          </a:solidFill>
          <a:ln w="15875">
            <a:solidFill>
              <a:srgbClr val="E060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548640" y="205740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 cache()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280160" y="2606040"/>
            <a:ext cx="2057400" cy="502920"/>
          </a:xfrm>
          <a:prstGeom prst="roundRect">
            <a:avLst>
              <a:gd name="adj" fmla="val 14545"/>
            </a:avLst>
          </a:prstGeom>
          <a:solidFill>
            <a:srgbClr val="16213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1280160" y="260604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rdd = big.filter(f)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308860" y="3108960"/>
            <a:ext cx="0" cy="320040"/>
          </a:xfrm>
          <a:prstGeom prst="line">
            <a:avLst/>
          </a:prstGeom>
          <a:noFill/>
          <a:ln w="15875">
            <a:solidFill>
              <a:srgbClr val="E0604A"/>
            </a:solidFill>
            <a:prstDash val="dash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868680" y="3429000"/>
            <a:ext cx="1463040" cy="457200"/>
          </a:xfrm>
          <a:prstGeom prst="roundRect">
            <a:avLst>
              <a:gd name="adj" fmla="val 16000"/>
            </a:avLst>
          </a:prstGeom>
          <a:solidFill>
            <a:srgbClr val="F6D9D2"/>
          </a:solidFill>
          <a:ln w="12700">
            <a:solidFill>
              <a:srgbClr val="E060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868680" y="34290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C2E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rdd.count()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308860" y="3108960"/>
            <a:ext cx="297180" cy="1097280"/>
          </a:xfrm>
          <a:prstGeom prst="line">
            <a:avLst/>
          </a:prstGeom>
          <a:noFill/>
          <a:ln w="15875">
            <a:solidFill>
              <a:srgbClr val="E0604A"/>
            </a:solidFill>
            <a:prstDash val="dash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2606040" y="4206240"/>
            <a:ext cx="1463040" cy="457200"/>
          </a:xfrm>
          <a:prstGeom prst="roundRect">
            <a:avLst>
              <a:gd name="adj" fmla="val 16000"/>
            </a:avLst>
          </a:prstGeom>
          <a:solidFill>
            <a:srgbClr val="F6D9D2"/>
          </a:solidFill>
          <a:ln w="12700">
            <a:solidFill>
              <a:srgbClr val="E060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2606040" y="42062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C2E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rdd.collect()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308860" y="3108960"/>
            <a:ext cx="2034540" cy="1874520"/>
          </a:xfrm>
          <a:prstGeom prst="line">
            <a:avLst/>
          </a:prstGeom>
          <a:noFill/>
          <a:ln w="15875">
            <a:solidFill>
              <a:srgbClr val="E0604A"/>
            </a:solidFill>
            <a:prstDash val="dash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343400" y="4983480"/>
            <a:ext cx="1463040" cy="457200"/>
          </a:xfrm>
          <a:prstGeom prst="roundRect">
            <a:avLst>
              <a:gd name="adj" fmla="val 16000"/>
            </a:avLst>
          </a:prstGeom>
          <a:solidFill>
            <a:srgbClr val="F6D9D2"/>
          </a:solidFill>
          <a:ln w="12700">
            <a:solidFill>
              <a:srgbClr val="E060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4343400" y="4983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C2E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rdd.take(5)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868680" y="37947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recomputed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2606040" y="45720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recomputed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4343400" y="53492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recomputed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562356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8C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actions → the filter (and everything before it) runs 3 separate times.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263640" y="1874520"/>
            <a:ext cx="5349240" cy="4114800"/>
          </a:xfrm>
          <a:prstGeom prst="roundRect">
            <a:avLst>
              <a:gd name="adj" fmla="val 2667"/>
            </a:avLst>
          </a:prstGeom>
          <a:solidFill>
            <a:srgbClr val="DFF7F1"/>
          </a:solidFill>
          <a:ln w="15875">
            <a:solidFill>
              <a:srgbClr val="2FBF9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 txBox="1"/>
          <p:nvPr/>
        </p:nvSpPr>
        <p:spPr>
          <a:xfrm>
            <a:off x="6263640" y="205740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0F6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 cache()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995160" y="2606040"/>
            <a:ext cx="2057400" cy="502920"/>
          </a:xfrm>
          <a:prstGeom prst="roundRect">
            <a:avLst>
              <a:gd name="adj" fmla="val 14545"/>
            </a:avLst>
          </a:prstGeom>
          <a:solidFill>
            <a:srgbClr val="16213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 txBox="1"/>
          <p:nvPr/>
        </p:nvSpPr>
        <p:spPr>
          <a:xfrm>
            <a:off x="6995160" y="260604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rdd = big.filter(f).cache()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8023860" y="3108960"/>
            <a:ext cx="0" cy="365760"/>
          </a:xfrm>
          <a:prstGeom prst="line">
            <a:avLst/>
          </a:prstGeom>
          <a:noFill/>
          <a:ln w="22225">
            <a:solidFill>
              <a:srgbClr val="2FBF9F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7315200" y="3474720"/>
            <a:ext cx="14173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9050">
            <a:solidFill>
              <a:srgbClr val="2FBF9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 txBox="1"/>
          <p:nvPr/>
        </p:nvSpPr>
        <p:spPr>
          <a:xfrm>
            <a:off x="7315200" y="347472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6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 in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F6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8732520" y="3726180"/>
            <a:ext cx="777240" cy="845820"/>
          </a:xfrm>
          <a:prstGeom prst="line">
            <a:avLst/>
          </a:prstGeom>
          <a:noFill/>
          <a:ln w="15875">
            <a:solidFill>
              <a:srgbClr val="2FBF9F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9509760" y="4343400"/>
            <a:ext cx="155448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2FBF9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 txBox="1"/>
          <p:nvPr/>
        </p:nvSpPr>
        <p:spPr>
          <a:xfrm>
            <a:off x="9509760" y="43434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F66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rdd.count()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8732520" y="3726180"/>
            <a:ext cx="777240" cy="1412748"/>
          </a:xfrm>
          <a:prstGeom prst="line">
            <a:avLst/>
          </a:prstGeom>
          <a:noFill/>
          <a:ln w="15875">
            <a:solidFill>
              <a:srgbClr val="2FBF9F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9509760" y="4910328"/>
            <a:ext cx="155448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2FBF9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 txBox="1"/>
          <p:nvPr/>
        </p:nvSpPr>
        <p:spPr>
          <a:xfrm>
            <a:off x="9509760" y="491032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F66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rdd.collect()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8732520" y="3726180"/>
            <a:ext cx="777240" cy="1979676"/>
          </a:xfrm>
          <a:prstGeom prst="line">
            <a:avLst/>
          </a:prstGeom>
          <a:noFill/>
          <a:ln w="15875">
            <a:solidFill>
              <a:srgbClr val="2FBF9F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9509760" y="5477256"/>
            <a:ext cx="155448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2FBF9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 txBox="1"/>
          <p:nvPr/>
        </p:nvSpPr>
        <p:spPr>
          <a:xfrm>
            <a:off x="9509760" y="5477256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F66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rdd.take(5)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6537960" y="56235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0F6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filter runs once; every later action reuses the cached result.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RDDs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30352"/>
            <a:ext cx="109728" cy="109728"/>
          </a:xfrm>
          <a:prstGeom prst="ellipse">
            <a:avLst/>
          </a:prstGeom>
          <a:solidFill>
            <a:srgbClr val="2FBF9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768096" y="4389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F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CACHING &amp; PERSISTENCE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858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persist() and storage levels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25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1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cache()</a:t>
            </a:r>
            <a:r>
              <a:rPr lang="en-US" sz="13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is shorthand for </a:t>
            </a:r>
            <a:r>
              <a:rPr lang="en-US" sz="1300" b="1" dirty="0">
                <a:solidFill>
                  <a:srgbClr val="1621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persist(StorageLevel.MEMORY_ONLY)</a:t>
            </a:r>
            <a:r>
              <a:rPr lang="en-US" sz="13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Use </a:t>
            </a:r>
            <a:r>
              <a:rPr lang="en-US" sz="1300" b="1" dirty="0">
                <a:solidFill>
                  <a:srgbClr val="1621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persist(level)</a:t>
            </a:r>
            <a:r>
              <a:rPr lang="en-US" sz="13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directly to pick a different trade-off of speed vs. memory: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11064240" cy="310896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Storage Level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BF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Stored 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BF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Spills to Disk?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BF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When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B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MEMORY_ONLY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Deserialized objects in RAM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— recomputes if evicted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fits comfortably in memory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MEMORY_AND_DISK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Deserialized in RAM, rest on disk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is larger than available RAM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MEMORY_ONLY_SER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Serialized bytes in RAM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— recomputes if evicted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Saving RAM matters more than CPU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MEMORY_AND_DISK_SER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Serialized in RAM, rest on disk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 data, RAM efficiency needed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DISK_ONLY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Serialized bytes on disk only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Always on disk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RAM is scarce; recompute is expensive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34924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16213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 txBox="1"/>
          <p:nvPr/>
        </p:nvSpPr>
        <p:spPr>
          <a:xfrm>
            <a:off x="777240" y="534924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df.persist(StorageLevel.MEMORY_AND_DISK)
</a:t>
            </a:r>
            <a:r>
              <a:rPr lang="en-US" sz="1150" i="1" dirty="0">
                <a:solidFill>
                  <a:srgbClr val="9AA5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... use df in multiple actions ...
</a:t>
            </a:r>
            <a:r>
              <a:rPr lang="en-US" sz="1150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df.unpersist()  </a:t>
            </a:r>
            <a:r>
              <a:rPr lang="en-US" sz="1150" i="1" dirty="0">
                <a:solidFill>
                  <a:srgbClr val="9AA5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free the cache when done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RDDs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30352"/>
            <a:ext cx="109728" cy="109728"/>
          </a:xfrm>
          <a:prstGeom prst="ellipse">
            <a:avLst/>
          </a:prstGeom>
          <a:solidFill>
            <a:srgbClr val="2FBF9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768096" y="4389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F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CACHING &amp; PERSISTENCE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858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example: caching a filtered log RDD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6400800" cy="4526280"/>
          </a:xfrm>
          <a:prstGeom prst="roundRect">
            <a:avLst>
              <a:gd name="adj" fmla="val 2424"/>
            </a:avLst>
          </a:prstGeom>
          <a:solidFill>
            <a:srgbClr val="16213E"/>
          </a:solidFill>
          <a:ln/>
          <a:effectLst>
            <a:outerShdw blurRad="76200" dist="25400" dir="5400000" algn="bl" rotWithShape="0">
              <a:srgbClr val="0B0F1E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822960" y="1783080"/>
            <a:ext cx="58521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logs = sc.textFile("hdfs://app.log")
errors = logs.filter(
</a:t>
            </a:r>
            <a:r>
              <a:rPr lang="en-US" sz="1200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lambda line: "ERROR" in line
</a:t>
            </a:r>
            <a:r>
              <a:rPr lang="en-US" sz="1200" b="1" dirty="0">
                <a:solidFill>
                  <a:srgbClr val="2FB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).cache()</a:t>
            </a:r>
            <a:r>
              <a:rPr lang="en-US" sz="1200" i="1" dirty="0">
                <a:solidFill>
                  <a:srgbClr val="9AA5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# persist after 1st use
# Action 1 - triggers the filter,
# result is cached in memory
</a:t>
            </a: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print(errors.count())
</a:t>
            </a:r>
            <a:r>
              <a:rPr lang="en-US" sz="1200" i="1" dirty="0">
                <a:solidFill>
                  <a:srgbClr val="9AA5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Action 2 - reuses cached data,
# filter does NOT re-run
</a:t>
            </a: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errors.saveAsTextFile("out/errors")
</a:t>
            </a:r>
            <a:r>
              <a:rPr lang="en-US" sz="1200" i="1" dirty="0">
                <a:solidFill>
                  <a:srgbClr val="9AA5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Action 3 - also reuses the cache
</a:t>
            </a: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line in errors.take(10):
    print(line)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223760" y="15544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per action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223760" y="2148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F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count()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223760" y="214884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file + filters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223760" y="2441448"/>
            <a:ext cx="4480560" cy="292608"/>
          </a:xfrm>
          <a:prstGeom prst="roundRect">
            <a:avLst>
              <a:gd name="adj" fmla="val 18750"/>
            </a:avLst>
          </a:prstGeom>
          <a:solidFill>
            <a:srgbClr val="EEF1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7223760" y="2441448"/>
            <a:ext cx="4480560" cy="292608"/>
          </a:xfrm>
          <a:prstGeom prst="roundRect">
            <a:avLst>
              <a:gd name="adj" fmla="val 18750"/>
            </a:avLst>
          </a:prstGeom>
          <a:solidFill>
            <a:srgbClr val="FF6B3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7223760" y="2926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F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saveAsTextFile()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223760" y="292608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reused from cache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223760" y="3218688"/>
            <a:ext cx="4480560" cy="292608"/>
          </a:xfrm>
          <a:prstGeom prst="roundRect">
            <a:avLst>
              <a:gd name="adj" fmla="val 18750"/>
            </a:avLst>
          </a:prstGeom>
          <a:solidFill>
            <a:srgbClr val="EEF1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7223760" y="3218688"/>
            <a:ext cx="672084" cy="292608"/>
          </a:xfrm>
          <a:prstGeom prst="roundRect">
            <a:avLst>
              <a:gd name="adj" fmla="val 18750"/>
            </a:avLst>
          </a:prstGeom>
          <a:solidFill>
            <a:srgbClr val="2FBF9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7223760" y="3703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F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take(10)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7223760" y="37033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reused from cache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223760" y="3995928"/>
            <a:ext cx="4480560" cy="292608"/>
          </a:xfrm>
          <a:prstGeom prst="roundRect">
            <a:avLst>
              <a:gd name="adj" fmla="val 18750"/>
            </a:avLst>
          </a:prstGeom>
          <a:solidFill>
            <a:srgbClr val="EEF1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7223760" y="3995928"/>
            <a:ext cx="448056" cy="292608"/>
          </a:xfrm>
          <a:prstGeom prst="roundRect">
            <a:avLst>
              <a:gd name="adj" fmla="val 18750"/>
            </a:avLst>
          </a:prstGeom>
          <a:solidFill>
            <a:srgbClr val="2FBF9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7223760" y="4617720"/>
            <a:ext cx="4480560" cy="1600200"/>
          </a:xfrm>
          <a:prstGeom prst="roundRect">
            <a:avLst>
              <a:gd name="adj" fmla="val 5714"/>
            </a:avLst>
          </a:prstGeom>
          <a:solidFill>
            <a:srgbClr val="DFF7F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7452360" y="4754880"/>
            <a:ext cx="4023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0F6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first action re-reads and re-filters the log file. Because errors is cached, the second and third actions reuse the in-memory result instead of repeating that work.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RDDs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206240"/>
            <a:ext cx="3657600" cy="3657600"/>
          </a:xfrm>
          <a:prstGeom prst="ellipse">
            <a:avLst/>
          </a:prstGeom>
          <a:solidFill>
            <a:srgbClr val="1F2E5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0607040" y="-1463040"/>
            <a:ext cx="2926080" cy="2926080"/>
          </a:xfrm>
          <a:prstGeom prst="ellipse">
            <a:avLst/>
          </a:prstGeom>
          <a:solidFill>
            <a:srgbClr val="1F2E5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548640" y="576072"/>
            <a:ext cx="109728" cy="109728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768096" y="4846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111A33"/>
          </a:solidFill>
          <a:ln w="12700">
            <a:solidFill>
              <a:srgbClr val="2A35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777240" y="19202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F6B3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1463040" y="1819656"/>
            <a:ext cx="9875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RDD = the foundation  —  </a:t>
            </a:r>
            <a:r>
              <a:rPr lang="en-US" sz="1300" dirty="0">
                <a:solidFill>
                  <a:srgbClr val="AEB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Immutable, partitioned, fault-tolerant collections that Spark spreads across a cluster.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770632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111A33"/>
          </a:solidFill>
          <a:ln w="12700">
            <a:solidFill>
              <a:srgbClr val="2A35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777240" y="299923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F6B3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1463040" y="2898648"/>
            <a:ext cx="9875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Transformations build a plan  —  </a:t>
            </a:r>
            <a:r>
              <a:rPr lang="en-US" sz="1300" dirty="0">
                <a:solidFill>
                  <a:srgbClr val="AEB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map, filter, flatMap, reduceByKey, join and friends are lazy — they only extend the lineage DAG.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849624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111A33"/>
          </a:solidFill>
          <a:ln w="12700">
            <a:solidFill>
              <a:srgbClr val="2A35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777240" y="4078224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FBF9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1463040" y="3977640"/>
            <a:ext cx="9875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trigger execution  —  </a:t>
            </a:r>
            <a:r>
              <a:rPr lang="en-US" sz="1300" dirty="0">
                <a:solidFill>
                  <a:srgbClr val="AEB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collect, count, reduce, saveAsTextFile turn the recorded plan into real, distributed computation.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928616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111A33"/>
          </a:solidFill>
          <a:ln w="12700">
            <a:solidFill>
              <a:srgbClr val="2A35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777240" y="5157216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F6B3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1463040" y="5056632"/>
            <a:ext cx="9875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to avoid rework  —  </a:t>
            </a:r>
            <a:r>
              <a:rPr lang="en-US" sz="1300" dirty="0">
                <a:solidFill>
                  <a:srgbClr val="AEB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cache() / persist(level) keep a computed RDD around so repeated actions skip recomputation.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96188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9AA5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RDDs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1681</Words>
  <Application>Microsoft Office PowerPoint</Application>
  <PresentationFormat>Widescreen</PresentationFormat>
  <Paragraphs>261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Yasmeen Mahammad</cp:lastModifiedBy>
  <cp:revision>2</cp:revision>
  <dcterms:created xsi:type="dcterms:W3CDTF">2026-08-31T09:39:25Z</dcterms:created>
  <dcterms:modified xsi:type="dcterms:W3CDTF">2026-08-31T10:58:32Z</dcterms:modified>
</cp:coreProperties>
</file>