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0" r:id="rId21"/>
    <p:sldId id="271" r:id="rId22"/>
    <p:sldId id="272" r:id="rId23"/>
    <p:sldId id="273" r:id="rId24"/>
    <p:sldId id="274" r:id="rId25"/>
    <p:sldId id="275" r:id="rId26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2A2E45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840480" cy="3840480"/>
          </a:xfrm>
          <a:prstGeom prst="ellipse">
            <a:avLst/>
          </a:prstGeom>
          <a:solidFill>
            <a:srgbClr val="2A2E45"/>
          </a:solidFill>
          <a:ln/>
        </p:spPr>
      </p:sp>
      <p:sp>
        <p:nvSpPr>
          <p:cNvPr id="4" name="Shape 2"/>
          <p:cNvSpPr/>
          <p:nvPr/>
        </p:nvSpPr>
        <p:spPr>
          <a:xfrm>
            <a:off x="982980" y="1120140"/>
            <a:ext cx="868680" cy="86868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76200" dist="25400" dir="5400000">
              <a:srgbClr val="1E213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82980" y="11201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3317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PROCESSING SERIES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65176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Spark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703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Cluster Architecture</a:t>
            </a:r>
            <a:endParaRPr lang="en-US" sz="2200" dirty="0"/>
          </a:p>
        </p:txBody>
      </p:sp>
      <p:sp>
        <p:nvSpPr>
          <p:cNvPr id="18" name="Shape 7"/>
          <p:cNvSpPr/>
          <p:nvPr/>
        </p:nvSpPr>
        <p:spPr>
          <a:xfrm>
            <a:off x="502920" y="470916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2A2E45"/>
          </a:solidFill>
          <a:ln w="9525">
            <a:solidFill>
              <a:srgbClr val="3F456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286000" y="4709160"/>
            <a:ext cx="896112" cy="384048"/>
          </a:xfrm>
          <a:prstGeom prst="roundRect">
            <a:avLst>
              <a:gd name="adj" fmla="val 50000"/>
            </a:avLst>
          </a:prstGeom>
          <a:solidFill>
            <a:srgbClr val="2A2E45"/>
          </a:solidFill>
          <a:ln w="9525">
            <a:solidFill>
              <a:srgbClr val="3F4560"/>
            </a:solidFill>
            <a:prstDash val="solid"/>
          </a:ln>
        </p:spPr>
        <p:txBody>
          <a:bodyPr/>
          <a:p/>
        </p:txBody>
      </p:sp>
      <p:sp>
        <p:nvSpPr>
          <p:cNvPr id="19" name="Text 8"/>
          <p:cNvSpPr txBox="1"/>
          <p:nvPr/>
        </p:nvSpPr>
        <p:spPr>
          <a:xfrm>
            <a:off x="502920" y="470916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 Foundations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4709160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64992" y="4709160"/>
            <a:ext cx="2546604" cy="384048"/>
          </a:xfrm>
          <a:prstGeom prst="roundRect">
            <a:avLst>
              <a:gd name="adj" fmla="val 50000"/>
            </a:avLst>
          </a:prstGeom>
          <a:solidFill>
            <a:srgbClr val="2A2E45"/>
          </a:solidFill>
          <a:ln w="9525">
            <a:solidFill>
              <a:srgbClr val="3F456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3364992" y="4709160"/>
            <a:ext cx="25466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 Comparison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94476" y="4709160"/>
            <a:ext cx="1938528" cy="384048"/>
          </a:xfrm>
          <a:prstGeom prst="roundRect">
            <a:avLst>
              <a:gd name="adj" fmla="val 50000"/>
            </a:avLst>
          </a:prstGeom>
          <a:solidFill>
            <a:srgbClr val="2A2E45"/>
          </a:solidFill>
          <a:ln w="9525">
            <a:solidFill>
              <a:srgbClr val="3F456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094476" y="470916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Architecture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15884" y="4709160"/>
            <a:ext cx="3328416" cy="384048"/>
          </a:xfrm>
          <a:prstGeom prst="roundRect">
            <a:avLst>
              <a:gd name="adj" fmla="val 50000"/>
            </a:avLst>
          </a:prstGeom>
          <a:solidFill>
            <a:srgbClr val="2A2E45"/>
          </a:solidFill>
          <a:ln w="9525">
            <a:solidFill>
              <a:srgbClr val="3F456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8215884" y="4709160"/>
            <a:ext cx="3328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• Executors • Cluster Manager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126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as a technical primer for engineers new to distributed data processing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4013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6" name="Rounded Rectangle 25"/>
          <p:cNvSpPr/>
          <p:nvPr/>
        </p:nvSpPr>
        <p:spPr>
          <a:xfrm>
            <a:off x="502920" y="1536192"/>
            <a:ext cx="11155680" cy="850392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905256" y="1705356"/>
            <a:ext cx="512064" cy="512064"/>
          </a:xfrm>
          <a:prstGeom prst="ellipse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05256" y="1705356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1627632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1E2130"/>
                </a:solidFill>
                <a:latin typeface="Cambria"/>
              </a:rPr>
              <a:t>Hadoop Foundations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1993391"/>
            <a:ext cx="969264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Hadoop’s core components (HDFS, MapReduce, YARN), its ecosystem, and the limitations that led to Spark.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2505456"/>
            <a:ext cx="11155680" cy="850392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905256" y="2674620"/>
            <a:ext cx="512064" cy="512064"/>
          </a:xfrm>
          <a:prstGeom prst="ellipse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05256" y="267462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83080" y="2596896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1E2130"/>
                </a:solidFill>
                <a:latin typeface="Cambria"/>
              </a:rPr>
              <a:t>Overview of Apache Spark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83080" y="2962656"/>
            <a:ext cx="969264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What Spark is, its design philosophy, and the unified engine it provides for large-scale data processing.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3474720"/>
            <a:ext cx="11155680" cy="850392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905256" y="3643884"/>
            <a:ext cx="512064" cy="512064"/>
          </a:xfrm>
          <a:prstGeom prst="ellipse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05256" y="3643884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83080" y="356616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1E2130"/>
                </a:solidFill>
                <a:latin typeface="Cambria"/>
              </a:rPr>
              <a:t>Spark vs. Traditional Batch Processing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83080" y="3931920"/>
            <a:ext cx="969264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How Spark's in-memory model compares with disk-based systems such as Hadoop MapReduce.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4443984"/>
            <a:ext cx="11155680" cy="850392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905256" y="4613148"/>
            <a:ext cx="512064" cy="512064"/>
          </a:xfrm>
          <a:prstGeom prst="ellipse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05256" y="4613148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83080" y="4535424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1E2130"/>
                </a:solidFill>
                <a:latin typeface="Cambria"/>
              </a:rPr>
              <a:t>Spark Cluster Architecture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83080" y="4901184"/>
            <a:ext cx="969264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The master-worker model that lets Spark distribute work across hundreds of machines.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5413248"/>
            <a:ext cx="11155680" cy="850392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905256" y="5582412"/>
            <a:ext cx="512064" cy="512064"/>
          </a:xfrm>
          <a:prstGeom prst="ellipse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905256" y="5582412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83080" y="5504688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1E2130"/>
                </a:solidFill>
                <a:latin typeface="Cambria"/>
              </a:rPr>
              <a:t>Core Components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83080" y="5870448"/>
            <a:ext cx="969264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Driver, Executors, and Cluster Manager options: Standalone, YARN, and Mesos.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Apache Spark?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54480"/>
            <a:ext cx="5394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is an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E2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unified analytics engine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large-scale data processing, originally developed at UC Berkeley's AMPLab.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697480"/>
            <a:ext cx="53949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3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data in-memory, dramatically reducing I/O compared to disk-based systems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3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one engine for batch, streaming, SQL, machine learning, and graph workloads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3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simple, expressive APIs in Scala, Java, Python, R, and SQL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3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from a single laptop to clusters of thousands of nodes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537960" y="1417320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Spark Stack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37960" y="1828800"/>
            <a:ext cx="1085850" cy="1051560"/>
          </a:xfrm>
          <a:prstGeom prst="roundRect">
            <a:avLst>
              <a:gd name="adj" fmla="val 7826"/>
            </a:avLst>
          </a:prstGeom>
          <a:solidFill>
            <a:srgbClr val="2A2E4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0" y="1901952"/>
            <a:ext cx="9944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SQL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487168"/>
            <a:ext cx="9944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898130" y="1828800"/>
            <a:ext cx="1085850" cy="1051560"/>
          </a:xfrm>
          <a:prstGeom prst="roundRect">
            <a:avLst>
              <a:gd name="adj" fmla="val 7826"/>
            </a:avLst>
          </a:prstGeom>
          <a:solidFill>
            <a:srgbClr val="2A2E4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43850" y="1901952"/>
            <a:ext cx="9944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943850" y="2487168"/>
            <a:ext cx="9944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258300" y="1828800"/>
            <a:ext cx="1085850" cy="1051560"/>
          </a:xfrm>
          <a:prstGeom prst="roundRect">
            <a:avLst>
              <a:gd name="adj" fmla="val 7826"/>
            </a:avLst>
          </a:prstGeom>
          <a:solidFill>
            <a:srgbClr val="2A2E4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304020" y="1901952"/>
            <a:ext cx="9944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MLlib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304020" y="2487168"/>
            <a:ext cx="9944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0618470" y="1828800"/>
            <a:ext cx="1085850" cy="1051560"/>
          </a:xfrm>
          <a:prstGeom prst="roundRect">
            <a:avLst>
              <a:gd name="adj" fmla="val 7826"/>
            </a:avLst>
          </a:prstGeom>
          <a:solidFill>
            <a:srgbClr val="2A2E4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664190" y="1901952"/>
            <a:ext cx="9944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GraphX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0664190" y="2487168"/>
            <a:ext cx="9944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Processing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537960" y="3063240"/>
            <a:ext cx="5166360" cy="777240"/>
          </a:xfrm>
          <a:prstGeom prst="roundRect">
            <a:avLst>
              <a:gd name="adj" fmla="val 10588"/>
            </a:avLst>
          </a:prstGeom>
          <a:solidFill>
            <a:srgbClr val="FF6B3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37960" y="30632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 Core Engine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493008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scheduling • Memory management • Fault recovery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537960" y="4023360"/>
            <a:ext cx="5166360" cy="640080"/>
          </a:xfrm>
          <a:prstGeom prst="roundRect">
            <a:avLst>
              <a:gd name="adj" fmla="val 12857"/>
            </a:avLst>
          </a:prstGeom>
          <a:solidFill>
            <a:srgbClr val="F4F5F8"/>
          </a:solidFill>
          <a:ln w="12700">
            <a:solidFill>
              <a:srgbClr val="D8DA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402336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Manager  (Standalone • YARN • Mesos)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37960" y="4846320"/>
            <a:ext cx="5166360" cy="640080"/>
          </a:xfrm>
          <a:prstGeom prst="roundRect">
            <a:avLst>
              <a:gd name="adj" fmla="val 12857"/>
            </a:avLst>
          </a:prstGeom>
          <a:solidFill>
            <a:srgbClr val="F4F5F8"/>
          </a:solidFill>
          <a:ln w="12700">
            <a:solidFill>
              <a:srgbClr val="D8DAE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37960" y="484632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 (HDFS • S3 • Cassandra • Local FS)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983980" y="2926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▼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983980" y="38404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▼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983980" y="466344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▼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537960" y="557784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top of any of these cluster managers, reading from any of these storage systems.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4013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Spark? Core Design Goals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01600" dist="25400" dir="5400000">
              <a:srgbClr val="1E213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0100" y="1897380"/>
            <a:ext cx="777240" cy="77724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76200" dist="25400" dir="5400000">
              <a:srgbClr val="1E213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0100" y="18973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192024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74320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computing and an optimized DAG execution engine make Spark up to 100x faster than MapReduce for iterative workloads.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01600" dist="25400" dir="5400000">
              <a:srgbClr val="1E213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5100" y="1897380"/>
            <a:ext cx="777240" cy="77724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76200" dist="25400" dir="5400000">
              <a:srgbClr val="1E213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15100" y="18973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192024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Ease of Use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74320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Rich, high-level APIs in Scala, Java, Python, R, and SQL, plus 80+ built-in operators, cut down boilerplate code.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97764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01600" dist="25400" dir="5400000">
              <a:srgbClr val="1E213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0100" y="4274820"/>
            <a:ext cx="777240" cy="77724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76200" dist="25400" dir="5400000">
              <a:srgbClr val="1E2130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00100" y="42748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429768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Generality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12064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 powers SQL, streaming, machine learning, and graph analytics — no need to stitch together separate systems.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97764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01600" dist="25400" dir="5400000">
              <a:srgbClr val="1E213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5100" y="4274820"/>
            <a:ext cx="777240" cy="77724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76200" dist="25400" dir="5400000">
              <a:srgbClr val="1E2130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515100" y="42748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429768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Anywhere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512064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on Standalone, YARN, Mesos, or Kubernetes clusters, and reads from HDFS, S3, HBase, or Cassandra.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4013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· PART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Batch Processing: Hadoop MapReduce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087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batch systems like Hadoop MapReduce process data in discrete map and reduce phases, persisting intermediate results to disk between every stage.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6608" y="2651760"/>
            <a:ext cx="1737360" cy="960120"/>
          </a:xfrm>
          <a:prstGeom prst="roundRect">
            <a:avLst>
              <a:gd name="adj" fmla="val 9524"/>
            </a:avLst>
          </a:prstGeom>
          <a:solidFill>
            <a:srgbClr val="2A2E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6608" y="265176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83968" y="3131820"/>
            <a:ext cx="502920" cy="914"/>
          </a:xfrm>
          <a:prstGeom prst="line">
            <a:avLst/>
          </a:prstGeom>
          <a:noFill/>
          <a:ln w="25400">
            <a:solidFill>
              <a:srgbClr val="3F4560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2392528" y="372160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disk I/O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86888" y="2651760"/>
            <a:ext cx="1737360" cy="960120"/>
          </a:xfrm>
          <a:prstGeom prst="roundRect">
            <a:avLst>
              <a:gd name="adj" fmla="val 9524"/>
            </a:avLst>
          </a:prstGeom>
          <a:solidFill>
            <a:srgbClr val="FF6B3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986888" y="265176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24248" y="3131820"/>
            <a:ext cx="502920" cy="914"/>
          </a:xfrm>
          <a:prstGeom prst="line">
            <a:avLst/>
          </a:prstGeom>
          <a:noFill/>
          <a:ln w="25400">
            <a:solidFill>
              <a:srgbClr val="3F4560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4632808" y="372160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disk I/O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227168" y="2651760"/>
            <a:ext cx="1737360" cy="960120"/>
          </a:xfrm>
          <a:prstGeom prst="roundRect">
            <a:avLst>
              <a:gd name="adj" fmla="val 9524"/>
            </a:avLst>
          </a:prstGeom>
          <a:solidFill>
            <a:srgbClr val="FF6B3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27168" y="265176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Sort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64528" y="3131820"/>
            <a:ext cx="502920" cy="914"/>
          </a:xfrm>
          <a:prstGeom prst="line">
            <a:avLst/>
          </a:prstGeom>
          <a:noFill/>
          <a:ln w="25400">
            <a:solidFill>
              <a:srgbClr val="3F4560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6873088" y="372160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disk I/O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67448" y="2651760"/>
            <a:ext cx="1737360" cy="960120"/>
          </a:xfrm>
          <a:prstGeom prst="roundRect">
            <a:avLst>
              <a:gd name="adj" fmla="val 9524"/>
            </a:avLst>
          </a:prstGeom>
          <a:solidFill>
            <a:srgbClr val="FF6B3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67448" y="265176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204808" y="3131820"/>
            <a:ext cx="502920" cy="914"/>
          </a:xfrm>
          <a:prstGeom prst="line">
            <a:avLst/>
          </a:prstGeom>
          <a:noFill/>
          <a:ln w="25400">
            <a:solidFill>
              <a:srgbClr val="3F4560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9113368" y="372160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disk I/O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707728" y="2651760"/>
            <a:ext cx="1737360" cy="960120"/>
          </a:xfrm>
          <a:prstGeom prst="roundRect">
            <a:avLst>
              <a:gd name="adj" fmla="val 9524"/>
            </a:avLst>
          </a:prstGeom>
          <a:solidFill>
            <a:srgbClr val="2A2E4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707728" y="265176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4434840"/>
            <a:ext cx="3474720" cy="1691640"/>
          </a:xfrm>
          <a:prstGeom prst="roundRect">
            <a:avLst>
              <a:gd name="adj" fmla="val 5405"/>
            </a:avLst>
          </a:prstGeom>
          <a:solidFill>
            <a:srgbClr val="F4F5F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4572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5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Disk-Based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4956048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reads from and writes to disk (typically HDFS), adding significant I/O overhead.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43400" y="4434840"/>
            <a:ext cx="3474720" cy="1691640"/>
          </a:xfrm>
          <a:prstGeom prst="roundRect">
            <a:avLst>
              <a:gd name="adj" fmla="val 5405"/>
            </a:avLst>
          </a:prstGeom>
          <a:solidFill>
            <a:srgbClr val="F4F5F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72000" y="4572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5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Rigid Two-Stage Model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4956048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computation is expressed as Map then Reduce, making multi-step or iterative jobs awkward.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83880" y="4434840"/>
            <a:ext cx="3474720" cy="1691640"/>
          </a:xfrm>
          <a:prstGeom prst="roundRect">
            <a:avLst>
              <a:gd name="adj" fmla="val 5405"/>
            </a:avLst>
          </a:prstGeom>
          <a:solidFill>
            <a:srgbClr val="F4F5F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412480" y="4572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5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Latency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412480" y="4956048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suited to large, one-off batch jobs, but slow for iterative algorithms or interactive queries.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4013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· PART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Spark vs. Traditional Batch Processing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1E213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417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11880" y="141732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11880" y="1417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35240" y="141732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3F456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635240" y="1417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(MapReduce)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929384"/>
            <a:ext cx="2926080" cy="621792"/>
          </a:xfrm>
          <a:prstGeom prst="roundRect">
            <a:avLst>
              <a:gd name="adj" fmla="val 8824"/>
            </a:avLst>
          </a:prstGeom>
          <a:solidFill>
            <a:srgbClr val="F4F5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1929384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Model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11880" y="1929384"/>
            <a:ext cx="3840480" cy="621792"/>
          </a:xfrm>
          <a:prstGeom prst="roundRect">
            <a:avLst>
              <a:gd name="adj" fmla="val 8824"/>
            </a:avLst>
          </a:prstGeom>
          <a:solidFill>
            <a:srgbClr val="F4F5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776472" y="1929384"/>
            <a:ext cx="35112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In-memory, DAG-based execution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35240" y="1929384"/>
            <a:ext cx="3840480" cy="621792"/>
          </a:xfrm>
          <a:prstGeom prst="roundRect">
            <a:avLst>
              <a:gd name="adj" fmla="val 8824"/>
            </a:avLst>
          </a:prstGeom>
          <a:solidFill>
            <a:srgbClr val="F4F5F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99832" y="1929384"/>
            <a:ext cx="35112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Disk-based, rigid two-stage Map/Reduce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606040"/>
            <a:ext cx="2926080" cy="621792"/>
          </a:xfrm>
          <a:prstGeom prst="roundRect">
            <a:avLst>
              <a:gd name="adj" fmla="val 8824"/>
            </a:avLst>
          </a:prstGeom>
          <a:solidFill>
            <a:srgbClr val="F9F9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260604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11880" y="2606040"/>
            <a:ext cx="3840480" cy="621792"/>
          </a:xfrm>
          <a:prstGeom prst="roundRect">
            <a:avLst>
              <a:gd name="adj" fmla="val 8824"/>
            </a:avLst>
          </a:prstGeom>
          <a:solidFill>
            <a:srgbClr val="F9F9F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776472" y="2606040"/>
            <a:ext cx="35112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100x faster in memory, 10x faster on disk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35240" y="2606040"/>
            <a:ext cx="3840480" cy="621792"/>
          </a:xfrm>
          <a:prstGeom prst="roundRect">
            <a:avLst>
              <a:gd name="adj" fmla="val 8824"/>
            </a:avLst>
          </a:prstGeom>
          <a:solidFill>
            <a:srgbClr val="F9F9F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99832" y="2606040"/>
            <a:ext cx="35112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— heavy disk I/O between every stage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282696"/>
            <a:ext cx="2926080" cy="621792"/>
          </a:xfrm>
          <a:prstGeom prst="roundRect">
            <a:avLst>
              <a:gd name="adj" fmla="val 8824"/>
            </a:avLst>
          </a:prstGeom>
          <a:solidFill>
            <a:srgbClr val="F4F5F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3282696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of Use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11880" y="3282696"/>
            <a:ext cx="3840480" cy="621792"/>
          </a:xfrm>
          <a:prstGeom prst="roundRect">
            <a:avLst>
              <a:gd name="adj" fmla="val 8824"/>
            </a:avLst>
          </a:prstGeom>
          <a:solidFill>
            <a:srgbClr val="F4F5F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776472" y="3282696"/>
            <a:ext cx="35112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APIs: Scala, Java, Python, R, SQL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635240" y="3282696"/>
            <a:ext cx="3840480" cy="621792"/>
          </a:xfrm>
          <a:prstGeom prst="roundRect">
            <a:avLst>
              <a:gd name="adj" fmla="val 8824"/>
            </a:avLst>
          </a:prstGeom>
          <a:solidFill>
            <a:srgbClr val="F4F5F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99832" y="3282696"/>
            <a:ext cx="35112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Primarily Java; verbose, low-level code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959352"/>
            <a:ext cx="2926080" cy="621792"/>
          </a:xfrm>
          <a:prstGeom prst="roundRect">
            <a:avLst>
              <a:gd name="adj" fmla="val 8824"/>
            </a:avLst>
          </a:prstGeom>
          <a:solidFill>
            <a:srgbClr val="F9F9F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3959352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Support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611880" y="3959352"/>
            <a:ext cx="3840480" cy="621792"/>
          </a:xfrm>
          <a:prstGeom prst="roundRect">
            <a:avLst>
              <a:gd name="adj" fmla="val 8824"/>
            </a:avLst>
          </a:prstGeom>
          <a:solidFill>
            <a:srgbClr val="F9F9F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776472" y="3959352"/>
            <a:ext cx="35112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Batch, streaming, SQL, ML, graph — one engine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635240" y="3959352"/>
            <a:ext cx="3840480" cy="621792"/>
          </a:xfrm>
          <a:prstGeom prst="roundRect">
            <a:avLst>
              <a:gd name="adj" fmla="val 8824"/>
            </a:avLst>
          </a:prstGeom>
          <a:solidFill>
            <a:srgbClr val="F9F9F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799832" y="3959352"/>
            <a:ext cx="35112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only; needs separate tools for the rest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4636008"/>
            <a:ext cx="2926080" cy="621792"/>
          </a:xfrm>
          <a:prstGeom prst="roundRect">
            <a:avLst>
              <a:gd name="adj" fmla="val 8824"/>
            </a:avLst>
          </a:prstGeom>
          <a:solidFill>
            <a:srgbClr val="F4F5F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0080" y="4636008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Workloads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611880" y="4636008"/>
            <a:ext cx="3840480" cy="621792"/>
          </a:xfrm>
          <a:prstGeom prst="roundRect">
            <a:avLst>
              <a:gd name="adj" fmla="val 8824"/>
            </a:avLst>
          </a:prstGeom>
          <a:solidFill>
            <a:srgbClr val="F4F5F8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3776472" y="4636008"/>
            <a:ext cx="35112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— data cached in memory across steps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635240" y="4636008"/>
            <a:ext cx="3840480" cy="621792"/>
          </a:xfrm>
          <a:prstGeom prst="roundRect">
            <a:avLst>
              <a:gd name="adj" fmla="val 8824"/>
            </a:avLst>
          </a:prstGeom>
          <a:solidFill>
            <a:srgbClr val="F4F5F8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799832" y="4636008"/>
            <a:ext cx="35112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— re-reads/writes disk every iteration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2920" y="5312664"/>
            <a:ext cx="2926080" cy="621792"/>
          </a:xfrm>
          <a:prstGeom prst="roundRect">
            <a:avLst>
              <a:gd name="adj" fmla="val 8824"/>
            </a:avLst>
          </a:prstGeom>
          <a:solidFill>
            <a:srgbClr val="F9F9FB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40080" y="5312664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Tolerance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3611880" y="5312664"/>
            <a:ext cx="3840480" cy="621792"/>
          </a:xfrm>
          <a:prstGeom prst="roundRect">
            <a:avLst>
              <a:gd name="adj" fmla="val 8824"/>
            </a:avLst>
          </a:prstGeom>
          <a:solidFill>
            <a:srgbClr val="F9F9FB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3776472" y="5312664"/>
            <a:ext cx="35112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Lineage-based recovery via RDDs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635240" y="5312664"/>
            <a:ext cx="3840480" cy="621792"/>
          </a:xfrm>
          <a:prstGeom prst="roundRect">
            <a:avLst>
              <a:gd name="adj" fmla="val 8824"/>
            </a:avLst>
          </a:prstGeom>
          <a:solidFill>
            <a:srgbClr val="F9F9FB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799832" y="5312664"/>
            <a:ext cx="35112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Replication-based recovery via HDFS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14013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· PART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Spark Outperforms Disk-Based Systems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91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Hadoop MapReduce — disk between every stage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3F456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21031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34540" y="2217420"/>
            <a:ext cx="457200" cy="457200"/>
          </a:xfrm>
          <a:prstGeom prst="ellipse">
            <a:avLst/>
          </a:prstGeom>
          <a:solidFill>
            <a:srgbClr val="F4F5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034540" y="22174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920240" y="2446020"/>
            <a:ext cx="11430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491740" y="2446020"/>
            <a:ext cx="11430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606040" y="210312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3F456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606040" y="21031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37660" y="2217420"/>
            <a:ext cx="457200" cy="457200"/>
          </a:xfrm>
          <a:prstGeom prst="ellipse">
            <a:avLst/>
          </a:prstGeom>
          <a:solidFill>
            <a:srgbClr val="F4F5F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137660" y="22174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23360" y="2446020"/>
            <a:ext cx="11430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94860" y="2446020"/>
            <a:ext cx="11430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709160" y="210312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3F456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709160" y="21031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40780" y="2217420"/>
            <a:ext cx="457200" cy="457200"/>
          </a:xfrm>
          <a:prstGeom prst="ellipse">
            <a:avLst/>
          </a:prstGeom>
          <a:solidFill>
            <a:srgbClr val="F4F5F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40780" y="22174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26480" y="2446020"/>
            <a:ext cx="11430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697980" y="2446020"/>
            <a:ext cx="11430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812280" y="210312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3F456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12280" y="21031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hand-off costs a disk write + disk read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3794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Spark — chained in-memory execution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2920" y="420624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FF6B3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02920" y="420624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920240" y="4549140"/>
            <a:ext cx="685800" cy="914"/>
          </a:xfrm>
          <a:prstGeom prst="line">
            <a:avLst/>
          </a:prstGeom>
          <a:noFill/>
          <a:ln w="28575">
            <a:solidFill>
              <a:srgbClr val="E2551F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606040" y="420624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FF6B3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606040" y="420624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023360" y="4549140"/>
            <a:ext cx="685800" cy="914"/>
          </a:xfrm>
          <a:prstGeom prst="line">
            <a:avLst/>
          </a:prstGeom>
          <a:noFill/>
          <a:ln w="28575">
            <a:solidFill>
              <a:srgbClr val="E2551F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709160" y="420624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FF6B35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709160" y="420624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26480" y="4549140"/>
            <a:ext cx="685800" cy="914"/>
          </a:xfrm>
          <a:prstGeom prst="line">
            <a:avLst/>
          </a:prstGeom>
          <a:noFill/>
          <a:ln w="28575">
            <a:solidFill>
              <a:srgbClr val="E2551F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812280" y="420624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FF6B35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812280" y="420624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02920" y="5029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in RDD/DataFrame cache across stages — no disk round-trip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464040" y="1828800"/>
            <a:ext cx="2194560" cy="3291840"/>
          </a:xfrm>
          <a:prstGeom prst="roundRect">
            <a:avLst>
              <a:gd name="adj" fmla="val 5000"/>
            </a:avLst>
          </a:prstGeom>
          <a:solidFill>
            <a:srgbClr val="1E2130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464040" y="21031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100x</a:t>
            </a:r>
            <a:endParaRPr lang="en-US" sz="4000" dirty="0"/>
          </a:p>
        </p:txBody>
      </p:sp>
      <p:sp>
        <p:nvSpPr>
          <p:cNvPr id="41" name="Text 39"/>
          <p:cNvSpPr txBox="1"/>
          <p:nvPr/>
        </p:nvSpPr>
        <p:spPr>
          <a:xfrm>
            <a:off x="9646920" y="2834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 memory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iterative jobs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9464040" y="35204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10x</a:t>
            </a:r>
            <a:endParaRPr lang="en-US" sz="3200" dirty="0"/>
          </a:p>
        </p:txBody>
      </p:sp>
      <p:sp>
        <p:nvSpPr>
          <p:cNvPr id="43" name="Text 41"/>
          <p:cNvSpPr txBox="1"/>
          <p:nvPr/>
        </p:nvSpPr>
        <p:spPr>
          <a:xfrm>
            <a:off x="9646920" y="4160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on disk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MapReduce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502920" y="5897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Apache Spark project benchmarks (Daytona GraySort and internal AMPLab studies)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14013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 Cluster Architecture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1E2130"/>
          </a:solidFill>
          <a:ln/>
          <a:effectLst>
            <a:outerShdw sx="100000" sy="100000" kx="0" ky="0" algn="bl" rotWithShape="0" blurRad="101600" dist="25400" dir="5400000">
              <a:srgbClr val="1E213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5270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 Program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920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SparkContext / SparkSession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0" y="141732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3F4560"/>
          </a:solidFill>
          <a:ln/>
          <a:effectLst>
            <a:outerShdw sx="100000" sy="100000" kx="0" ky="0" algn="bl" rotWithShape="0" blurRad="101600" dist="25400" dir="5400000">
              <a:srgbClr val="1E213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0" y="15270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Manager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1920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• YARN • Mesos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31920" y="1874520"/>
            <a:ext cx="4297680" cy="914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headEnd type="triangle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4023360" y="1417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Requests &amp; receives resources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23160" y="2331720"/>
            <a:ext cx="914" cy="548640"/>
          </a:xfrm>
          <a:prstGeom prst="line">
            <a:avLst/>
          </a:prstGeom>
          <a:noFill/>
          <a:ln w="25400">
            <a:solidFill>
              <a:srgbClr val="E2551F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738360" y="2331720"/>
            <a:ext cx="914" cy="548640"/>
          </a:xfrm>
          <a:prstGeom prst="line">
            <a:avLst/>
          </a:prstGeom>
          <a:noFill/>
          <a:ln w="25400">
            <a:solidFill>
              <a:srgbClr val="3F4560"/>
            </a:solidFill>
            <a:prstDash val="dash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2331720" y="2880360"/>
            <a:ext cx="7498080" cy="914"/>
          </a:xfrm>
          <a:prstGeom prst="line">
            <a:avLst/>
          </a:prstGeom>
          <a:noFill/>
          <a:ln w="19050">
            <a:solidFill>
              <a:srgbClr val="9AA0B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2423160" y="2880360"/>
            <a:ext cx="914" cy="914"/>
          </a:xfrm>
          <a:prstGeom prst="line">
            <a:avLst/>
          </a:prstGeom>
          <a:noFill/>
          <a:ln w="22225">
            <a:solidFill>
              <a:srgbClr val="3F4560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2331720" y="2880360"/>
            <a:ext cx="914" cy="274320"/>
          </a:xfrm>
          <a:prstGeom prst="line">
            <a:avLst/>
          </a:prstGeom>
          <a:noFill/>
          <a:ln w="22225">
            <a:solidFill>
              <a:srgbClr val="9AA0B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080760" y="2880360"/>
            <a:ext cx="914" cy="274320"/>
          </a:xfrm>
          <a:prstGeom prst="line">
            <a:avLst/>
          </a:prstGeom>
          <a:noFill/>
          <a:ln w="22225">
            <a:solidFill>
              <a:srgbClr val="9AA0B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829800" y="2880360"/>
            <a:ext cx="914" cy="274320"/>
          </a:xfrm>
          <a:prstGeom prst="line">
            <a:avLst/>
          </a:prstGeom>
          <a:noFill/>
          <a:ln w="22225">
            <a:solidFill>
              <a:srgbClr val="9AA0B8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1828800" y="25877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Launches executors  →      3. Schedules &amp; sends tasks directly to executors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3154680"/>
            <a:ext cx="3383280" cy="2788920"/>
          </a:xfrm>
          <a:prstGeom prst="roundRect">
            <a:avLst>
              <a:gd name="adj" fmla="val 3279"/>
            </a:avLst>
          </a:prstGeom>
          <a:solidFill>
            <a:srgbClr val="F4F5F8"/>
          </a:solidFill>
          <a:ln w="12700">
            <a:solidFill>
              <a:srgbClr val="D8DA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246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 Node 1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68680" y="3657600"/>
            <a:ext cx="2926080" cy="1417320"/>
          </a:xfrm>
          <a:prstGeom prst="roundRect">
            <a:avLst>
              <a:gd name="adj" fmla="val 5806"/>
            </a:avLst>
          </a:prstGeom>
          <a:solidFill>
            <a:srgbClr val="FF6B3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8680" y="37307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51560" y="4096512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51560" y="409651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23160" y="4096512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423160" y="409651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" y="4617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051560" y="4590288"/>
            <a:ext cx="2560320" cy="384048"/>
          </a:xfrm>
          <a:prstGeom prst="roundRect">
            <a:avLst>
              <a:gd name="adj" fmla="val 14286"/>
            </a:avLst>
          </a:prstGeom>
          <a:solidFill>
            <a:srgbClr val="E2551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51560" y="45902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/ Storage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56235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 Process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389120" y="3154680"/>
            <a:ext cx="3383280" cy="2788920"/>
          </a:xfrm>
          <a:prstGeom prst="roundRect">
            <a:avLst>
              <a:gd name="adj" fmla="val 3279"/>
            </a:avLst>
          </a:prstGeom>
          <a:solidFill>
            <a:srgbClr val="F4F5F8"/>
          </a:solidFill>
          <a:ln w="12700">
            <a:solidFill>
              <a:srgbClr val="D8DAE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389120" y="3246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 Node 2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617720" y="3657600"/>
            <a:ext cx="2926080" cy="1417320"/>
          </a:xfrm>
          <a:prstGeom prst="roundRect">
            <a:avLst>
              <a:gd name="adj" fmla="val 5806"/>
            </a:avLst>
          </a:prstGeom>
          <a:solidFill>
            <a:srgbClr val="FF6B35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617720" y="37307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00600" y="4096512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800600" y="409651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72200" y="4096512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172200" y="409651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800600" y="4617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00600" y="4590288"/>
            <a:ext cx="2560320" cy="384048"/>
          </a:xfrm>
          <a:prstGeom prst="roundRect">
            <a:avLst>
              <a:gd name="adj" fmla="val 14286"/>
            </a:avLst>
          </a:prstGeom>
          <a:solidFill>
            <a:srgbClr val="E2551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800600" y="45902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/ Storage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4389120" y="56235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 Process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138160" y="3154680"/>
            <a:ext cx="3383280" cy="2788920"/>
          </a:xfrm>
          <a:prstGeom prst="roundRect">
            <a:avLst>
              <a:gd name="adj" fmla="val 3279"/>
            </a:avLst>
          </a:prstGeom>
          <a:solidFill>
            <a:srgbClr val="F4F5F8"/>
          </a:solidFill>
          <a:ln w="12700">
            <a:solidFill>
              <a:srgbClr val="D8DAE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138160" y="3246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 Node 3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8366760" y="3657600"/>
            <a:ext cx="2926080" cy="1417320"/>
          </a:xfrm>
          <a:prstGeom prst="roundRect">
            <a:avLst>
              <a:gd name="adj" fmla="val 5806"/>
            </a:avLst>
          </a:prstGeom>
          <a:solidFill>
            <a:srgbClr val="FF6B35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366760" y="37307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549640" y="4096512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8549640" y="409651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921240" y="4096512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9921240" y="409651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8549640" y="4617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549640" y="4590288"/>
            <a:ext cx="2560320" cy="384048"/>
          </a:xfrm>
          <a:prstGeom prst="roundRect">
            <a:avLst>
              <a:gd name="adj" fmla="val 14286"/>
            </a:avLst>
          </a:prstGeom>
          <a:solidFill>
            <a:srgbClr val="E2551F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8549640" y="45902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/ Storage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8138160" y="56235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 Process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14013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ARCHITECTURE · COMPONENT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Driver Program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087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Driver is the process running the main() function of a Spark application. It owns the SparkContext, plans the work, and coordinates every executor in the cluster.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286000"/>
            <a:ext cx="3474720" cy="1417320"/>
          </a:xfrm>
          <a:prstGeom prst="roundRect">
            <a:avLst>
              <a:gd name="adj" fmla="val 6452"/>
            </a:avLst>
          </a:prstGeom>
          <a:solidFill>
            <a:srgbClr val="F4F5F8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468880"/>
            <a:ext cx="548640" cy="548640"/>
          </a:xfrm>
          <a:prstGeom prst="ellipse">
            <a:avLst/>
          </a:prstGeom>
          <a:solidFill>
            <a:srgbClr val="1E2130"/>
          </a:solidFill>
          <a:ln/>
          <a:effectLst>
            <a:outerShdw sx="100000" sy="100000" kx="0" ky="0" algn="bl" rotWithShape="0" blurRad="76200" dist="25400" dir="5400000">
              <a:srgbClr val="1E213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4688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Creates the SparkContext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06324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the entry point that connects the application to the cluster.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2286000"/>
            <a:ext cx="3474720" cy="1417320"/>
          </a:xfrm>
          <a:prstGeom prst="roundRect">
            <a:avLst>
              <a:gd name="adj" fmla="val 6452"/>
            </a:avLst>
          </a:prstGeom>
          <a:solidFill>
            <a:srgbClr val="F4F5F8"/>
          </a:solidFill>
          <a:ln/>
        </p:spPr>
      </p:sp>
      <p:sp>
        <p:nvSpPr>
          <p:cNvPr id="11" name="Shape 9"/>
          <p:cNvSpPr/>
          <p:nvPr/>
        </p:nvSpPr>
        <p:spPr>
          <a:xfrm>
            <a:off x="4526280" y="2468880"/>
            <a:ext cx="548640" cy="548640"/>
          </a:xfrm>
          <a:prstGeom prst="ellipse">
            <a:avLst/>
          </a:prstGeom>
          <a:solidFill>
            <a:srgbClr val="1E2130"/>
          </a:solidFill>
          <a:ln/>
          <a:effectLst>
            <a:outerShdw sx="100000" sy="100000" kx="0" ky="0" algn="bl" rotWithShape="0" blurRad="76200" dist="25400" dir="5400000">
              <a:srgbClr val="1E213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52628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24688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Builds the DAG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06324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transformations into a logical, then physical, Directed Acyclic Graph of stages.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83880" y="2286000"/>
            <a:ext cx="3474720" cy="1417320"/>
          </a:xfrm>
          <a:prstGeom prst="roundRect">
            <a:avLst>
              <a:gd name="adj" fmla="val 6452"/>
            </a:avLst>
          </a:prstGeom>
          <a:solidFill>
            <a:srgbClr val="F4F5F8"/>
          </a:solidFill>
          <a:ln/>
        </p:spPr>
      </p:sp>
      <p:sp>
        <p:nvSpPr>
          <p:cNvPr id="16" name="Shape 14"/>
          <p:cNvSpPr/>
          <p:nvPr/>
        </p:nvSpPr>
        <p:spPr>
          <a:xfrm>
            <a:off x="8366760" y="2468880"/>
            <a:ext cx="548640" cy="548640"/>
          </a:xfrm>
          <a:prstGeom prst="ellipse">
            <a:avLst/>
          </a:prstGeom>
          <a:solidFill>
            <a:srgbClr val="1E2130"/>
          </a:solidFill>
          <a:ln/>
          <a:effectLst>
            <a:outerShdw sx="100000" sy="100000" kx="0" ky="0" algn="bl" rotWithShape="0" blurRad="76200" dist="25400" dir="5400000">
              <a:srgbClr val="1E2130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36676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24688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Schedules Tasks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306324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each stage into tasks and assigns them to available executors.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977640"/>
            <a:ext cx="3474720" cy="1417320"/>
          </a:xfrm>
          <a:prstGeom prst="roundRect">
            <a:avLst>
              <a:gd name="adj" fmla="val 6452"/>
            </a:avLst>
          </a:prstGeom>
          <a:solidFill>
            <a:srgbClr val="F4F5F8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4160520"/>
            <a:ext cx="548640" cy="548640"/>
          </a:xfrm>
          <a:prstGeom prst="ellipse">
            <a:avLst/>
          </a:prstGeom>
          <a:solidFill>
            <a:srgbClr val="1E2130"/>
          </a:solidFill>
          <a:ln/>
          <a:effectLst>
            <a:outerShdw sx="100000" sy="100000" kx="0" ky="0" algn="bl" rotWithShape="0" blurRad="76200" dist="25400" dir="5400000">
              <a:srgbClr val="1E2130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8580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41605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Tracks Executors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47548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executor health and re-schedules tasks on failure.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43400" y="3977640"/>
            <a:ext cx="3474720" cy="1417320"/>
          </a:xfrm>
          <a:prstGeom prst="roundRect">
            <a:avLst>
              <a:gd name="adj" fmla="val 6452"/>
            </a:avLst>
          </a:prstGeom>
          <a:solidFill>
            <a:srgbClr val="F4F5F8"/>
          </a:solidFill>
          <a:ln/>
        </p:spPr>
      </p:sp>
      <p:sp>
        <p:nvSpPr>
          <p:cNvPr id="26" name="Shape 24"/>
          <p:cNvSpPr/>
          <p:nvPr/>
        </p:nvSpPr>
        <p:spPr>
          <a:xfrm>
            <a:off x="4526280" y="4160520"/>
            <a:ext cx="548640" cy="548640"/>
          </a:xfrm>
          <a:prstGeom prst="ellipse">
            <a:avLst/>
          </a:prstGeom>
          <a:solidFill>
            <a:srgbClr val="1E2130"/>
          </a:solidFill>
          <a:ln/>
          <a:effectLst>
            <a:outerShdw sx="100000" sy="100000" kx="0" ky="0" algn="bl" rotWithShape="0" blurRad="76200" dist="25400" dir="5400000">
              <a:srgbClr val="1E2130">
                <a:alpha val="1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452628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5212080" y="41605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Aggregates Results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0" y="47548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results back from executors and returns them to the user code.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83880" y="3977640"/>
            <a:ext cx="3474720" cy="1417320"/>
          </a:xfrm>
          <a:prstGeom prst="roundRect">
            <a:avLst>
              <a:gd name="adj" fmla="val 6452"/>
            </a:avLst>
          </a:prstGeom>
          <a:solidFill>
            <a:srgbClr val="F4F5F8"/>
          </a:solidFill>
          <a:ln/>
        </p:spPr>
      </p:sp>
      <p:sp>
        <p:nvSpPr>
          <p:cNvPr id="31" name="Shape 29"/>
          <p:cNvSpPr/>
          <p:nvPr/>
        </p:nvSpPr>
        <p:spPr>
          <a:xfrm>
            <a:off x="8366760" y="4160520"/>
            <a:ext cx="548640" cy="548640"/>
          </a:xfrm>
          <a:prstGeom prst="ellipse">
            <a:avLst/>
          </a:prstGeom>
          <a:solidFill>
            <a:srgbClr val="1E2130"/>
          </a:solidFill>
          <a:ln/>
          <a:effectLst>
            <a:outerShdw sx="100000" sy="100000" kx="0" ky="0" algn="bl" rotWithShape="0" blurRad="76200" dist="25400" dir="5400000">
              <a:srgbClr val="1E2130">
                <a:alpha val="18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836676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9052560" y="41605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Hosts the Web UI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412480" y="47548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the Spark UI (port 4040) for monitoring jobs, stages, and tasks.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14013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ARCHITECTURE · COMPONENT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Executors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087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Executors are distributed worker processes launched on cluster nodes for the lifetime of an application. Each executor runs tasks and stores data for the driver.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423160"/>
            <a:ext cx="5486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individual tasks and report results and status back to the Driver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in-memory storage for RDDs / DataFrames via a block manager (the cache)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executor gets a fixed slice of CPU cores and memory, configured at launch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per application — one app's executors never share data with another's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tasks run concurrently inside one executor using threads, not separate JVMs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766560" y="1600200"/>
            <a:ext cx="4846320" cy="4480560"/>
          </a:xfrm>
          <a:prstGeom prst="roundRect">
            <a:avLst>
              <a:gd name="adj" fmla="val 2857"/>
            </a:avLst>
          </a:prstGeom>
          <a:solidFill>
            <a:srgbClr val="1E2130"/>
          </a:solidFill>
          <a:ln/>
          <a:effectLst>
            <a:outerShdw sx="100000" sy="100000" kx="0" ky="0" algn="bl" rotWithShape="0" blurRad="101600" dist="25400" dir="5400000">
              <a:srgbClr val="1E2130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76656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Executor  (JVM Process)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040880" y="2377440"/>
            <a:ext cx="868680" cy="1051560"/>
          </a:xfrm>
          <a:prstGeom prst="roundRect">
            <a:avLst>
              <a:gd name="adj" fmla="val 8421"/>
            </a:avLst>
          </a:prstGeom>
          <a:solidFill>
            <a:srgbClr val="FF6B3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040880" y="2377440"/>
            <a:ext cx="868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83880" y="2377440"/>
            <a:ext cx="868680" cy="1051560"/>
          </a:xfrm>
          <a:prstGeom prst="roundRect">
            <a:avLst>
              <a:gd name="adj" fmla="val 8421"/>
            </a:avLst>
          </a:prstGeom>
          <a:solidFill>
            <a:srgbClr val="FF6B3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183880" y="2377440"/>
            <a:ext cx="868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326880" y="2377440"/>
            <a:ext cx="868680" cy="1051560"/>
          </a:xfrm>
          <a:prstGeom prst="roundRect">
            <a:avLst>
              <a:gd name="adj" fmla="val 8421"/>
            </a:avLst>
          </a:prstGeom>
          <a:solidFill>
            <a:srgbClr val="FF6B3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326880" y="2377440"/>
            <a:ext cx="868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3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469880" y="2377440"/>
            <a:ext cx="868680" cy="1051560"/>
          </a:xfrm>
          <a:prstGeom prst="roundRect">
            <a:avLst>
              <a:gd name="adj" fmla="val 8421"/>
            </a:avLst>
          </a:prstGeom>
          <a:solidFill>
            <a:srgbClr val="FF6B3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469880" y="2377440"/>
            <a:ext cx="868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4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040880" y="3657600"/>
            <a:ext cx="4297680" cy="960120"/>
          </a:xfrm>
          <a:prstGeom prst="roundRect">
            <a:avLst>
              <a:gd name="adj" fmla="val 8571"/>
            </a:avLst>
          </a:prstGeom>
          <a:solidFill>
            <a:srgbClr val="2A2E4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040880" y="37947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/ Storage (Block Manager)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41422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RDD partitions &amp; broadcast variables in memory / on local disk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040880" y="4800600"/>
            <a:ext cx="4297680" cy="914400"/>
          </a:xfrm>
          <a:prstGeom prst="roundRect">
            <a:avLst>
              <a:gd name="adj" fmla="val 9000"/>
            </a:avLst>
          </a:prstGeom>
          <a:solidFill>
            <a:srgbClr val="2A2E4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040880" y="48006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task status &amp; results to Driver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4013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ARCHITECTURE · COMPONENT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Manager Options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087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Cluster Manager allocates resources across applications. Spark supports several pluggable cluster managers: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3474720" cy="3977640"/>
          </a:xfrm>
          <a:prstGeom prst="roundRect">
            <a:avLst>
              <a:gd name="adj" fmla="val 3158"/>
            </a:avLst>
          </a:prstGeom>
          <a:solidFill>
            <a:srgbClr val="1E2130"/>
          </a:solidFill>
          <a:ln/>
          <a:effectLst>
            <a:outerShdw sx="100000" sy="100000" kx="0" ky="0" algn="bl" rotWithShape="0" blurRad="101600" dist="25400" dir="5400000">
              <a:srgbClr val="1E213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97380" y="2308860"/>
            <a:ext cx="685800" cy="68580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76200" dist="25400" dir="5400000">
              <a:srgbClr val="1E213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897380" y="23088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154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Standalone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520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Spark's built-in manager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97764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0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with Spark — no extra install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0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master / worker processes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0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dedicated Spark clusters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0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multi-framework sharing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43400" y="2011680"/>
            <a:ext cx="3474720" cy="3977640"/>
          </a:xfrm>
          <a:prstGeom prst="roundRect">
            <a:avLst>
              <a:gd name="adj" fmla="val 3158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01600" dist="25400" dir="5400000">
              <a:srgbClr val="1E213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37860" y="2308860"/>
            <a:ext cx="685800" cy="68580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76200" dist="25400" dir="5400000">
              <a:srgbClr val="1E2130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737860" y="23088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3154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YARN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3520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Hadoop's resource manager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97764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0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in enterprise Hadoop stacks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0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cluster with MapReduce, Hive, etc.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0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ResourceManager + NodeManagers model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0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multi-tenancy &amp; queue support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83880" y="2011680"/>
            <a:ext cx="3474720" cy="3977640"/>
          </a:xfrm>
          <a:prstGeom prst="roundRect">
            <a:avLst>
              <a:gd name="adj" fmla="val 3158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01600" dist="25400" dir="5400000">
              <a:srgbClr val="1E213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578340" y="2308860"/>
            <a:ext cx="685800" cy="68580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76200" dist="25400" dir="5400000">
              <a:srgbClr val="1E2130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578340" y="23088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3154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Mesos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3520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cluster manager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503920" y="397764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0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resource sharing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0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Spark alongside many frameworks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0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scheduling modes: fine / coarse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0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common in new deployments today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4013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ARCHITECTURE · PUTTING IT TOGETHER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Spark Application Runs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965960" y="2468880"/>
            <a:ext cx="1371600" cy="914"/>
          </a:xfrm>
          <a:prstGeom prst="line">
            <a:avLst/>
          </a:prstGeom>
          <a:noFill/>
          <a:ln w="28575">
            <a:solidFill>
              <a:srgbClr val="E2551F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051560" y="2011680"/>
            <a:ext cx="914400" cy="914400"/>
          </a:xfrm>
          <a:prstGeom prst="ellipse">
            <a:avLst/>
          </a:prstGeom>
          <a:solidFill>
            <a:srgbClr val="1E2130"/>
          </a:solidFill>
          <a:ln/>
          <a:effectLst>
            <a:outerShdw sx="100000" sy="100000" kx="0" ky="0" algn="bl" rotWithShape="0" blurRad="76200" dist="25400" dir="5400000">
              <a:srgbClr val="1E213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5156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063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40156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the app via spark-submit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51960" y="2468880"/>
            <a:ext cx="1371600" cy="914"/>
          </a:xfrm>
          <a:prstGeom prst="line">
            <a:avLst/>
          </a:prstGeom>
          <a:noFill/>
          <a:ln w="28575">
            <a:solidFill>
              <a:srgbClr val="E2551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37560" y="2011680"/>
            <a:ext cx="914400" cy="914400"/>
          </a:xfrm>
          <a:prstGeom prst="ellipse">
            <a:avLst/>
          </a:prstGeom>
          <a:solidFill>
            <a:srgbClr val="1E2130"/>
          </a:solidFill>
          <a:ln/>
          <a:effectLst>
            <a:outerShdw sx="100000" sy="100000" kx="0" ky="0" algn="bl" rotWithShape="0" blurRad="76200" dist="25400" dir="5400000">
              <a:srgbClr val="1E213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33756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3063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Initialize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340156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starts and creates the SparkContext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37960" y="2468880"/>
            <a:ext cx="1371600" cy="914"/>
          </a:xfrm>
          <a:prstGeom prst="line">
            <a:avLst/>
          </a:prstGeom>
          <a:noFill/>
          <a:ln w="28575">
            <a:solidFill>
              <a:srgbClr val="E2551F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623560" y="2011680"/>
            <a:ext cx="914400" cy="914400"/>
          </a:xfrm>
          <a:prstGeom prst="ellipse">
            <a:avLst/>
          </a:prstGeom>
          <a:solidFill>
            <a:srgbClr val="1E2130"/>
          </a:solidFill>
          <a:ln/>
          <a:effectLst>
            <a:outerShdw sx="100000" sy="100000" kx="0" ky="0" algn="bl" rotWithShape="0" blurRad="76200" dist="25400" dir="5400000">
              <a:srgbClr val="1E2130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62356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5166360" y="3063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Negotiate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166360" y="340156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asks Cluster Manager for resources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823960" y="2468880"/>
            <a:ext cx="1371600" cy="914"/>
          </a:xfrm>
          <a:prstGeom prst="line">
            <a:avLst/>
          </a:prstGeom>
          <a:noFill/>
          <a:ln w="28575">
            <a:solidFill>
              <a:srgbClr val="E2551F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909560" y="2011680"/>
            <a:ext cx="914400" cy="914400"/>
          </a:xfrm>
          <a:prstGeom prst="ellipse">
            <a:avLst/>
          </a:prstGeom>
          <a:solidFill>
            <a:srgbClr val="1E2130"/>
          </a:solidFill>
          <a:ln/>
          <a:effectLst>
            <a:outerShdw sx="100000" sy="100000" kx="0" ky="0" algn="bl" rotWithShape="0" blurRad="76200" dist="25400" dir="5400000">
              <a:srgbClr val="1E2130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90956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3063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452360" y="340156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Manager starts Executors on Workers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195560" y="2011680"/>
            <a:ext cx="914400" cy="91440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76200" dist="25400" dir="5400000">
              <a:srgbClr val="1E2130">
                <a:alpha val="1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1019556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9738360" y="3063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738360" y="340156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sends Tasks; Executors run &amp; return results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4434840"/>
            <a:ext cx="11155680" cy="1691640"/>
          </a:xfrm>
          <a:prstGeom prst="roundRect">
            <a:avLst>
              <a:gd name="adj" fmla="val 5405"/>
            </a:avLst>
          </a:prstGeom>
          <a:solidFill>
            <a:srgbClr val="F4F5F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4617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5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detail: task placement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49834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executors are running, the Driver communicates with them directly — it does not route tasks or data through the Cluster Manager. Spark also tries to schedule tasks close to where their data already lives (data locality) to minimize network transfer.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14013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114800" cy="4114800"/>
          </a:xfrm>
          <a:prstGeom prst="ellipse">
            <a:avLst/>
          </a:prstGeom>
          <a:solidFill>
            <a:srgbClr val="2A2E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0467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39496" y="1819656"/>
            <a:ext cx="566928" cy="566928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76200" dist="25400" dir="5400000">
              <a:srgbClr val="1E213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39496" y="1819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78308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&amp; Fast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167128"/>
            <a:ext cx="4617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replaces disk-heavy MapReduce pipelines with a single in-memory engine that is dramatically faster and far more general.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0216" y="1819656"/>
            <a:ext cx="566928" cy="566928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76200" dist="25400" dir="5400000">
              <a:srgbClr val="1E213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00216" y="1819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178308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– Worker Model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167128"/>
            <a:ext cx="4617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Driver plans and coordinates the job; Executors on Worker Nodes carry out the actual computation.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9496" y="3922776"/>
            <a:ext cx="566928" cy="566928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76200" dist="25400" dir="5400000">
              <a:srgbClr val="1E213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39496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88620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Pluggable Resourcing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4270248"/>
            <a:ext cx="4617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Standalone, YARN, and Mesos all let Spark acquire the executors it needs from a shared cluster.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0216" y="3922776"/>
            <a:ext cx="566928" cy="566928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76200" dist="25400" dir="5400000">
              <a:srgbClr val="1E2130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300216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388620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Communication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4270248"/>
            <a:ext cx="4617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launch, the Driver talks to Executors directly — the Cluster Manager's role is resource allocation, not task routing.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4013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14013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3840480"/>
            <a:ext cx="4572000" cy="4572000"/>
          </a:xfrm>
          <a:prstGeom prst="ellipse">
            <a:avLst/>
          </a:prstGeom>
          <a:solidFill>
            <a:srgbClr val="2A2E45"/>
          </a:solidFill>
          <a:ln/>
        </p:spPr>
      </p:sp>
      <p:sp>
        <p:nvSpPr>
          <p:cNvPr id="3" name="Shape 1"/>
          <p:cNvSpPr/>
          <p:nvPr/>
        </p:nvSpPr>
        <p:spPr>
          <a:xfrm>
            <a:off x="5592928" y="1874520"/>
            <a:ext cx="1005840" cy="100584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76200" dist="25400" dir="5400000">
              <a:srgbClr val="1E2130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592928" y="18745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0" y="320040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0" y="38862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0" y="57607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RDDs, DataFrames &amp; Transformations vs. Actions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spc="200">
                <a:solidFill>
                  <a:srgbClr val="E2551F"/>
                </a:solidFill>
                <a:latin typeface="Calibri"/>
              </a:rPr>
              <a:t>HADOOP ·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E2130"/>
                </a:solidFill>
                <a:latin typeface="Cambria"/>
              </a:rPr>
              <a:t>What Is Hadoop?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Apache Spark</a:t>
            </a:r>
          </a:p>
        </p:txBody>
      </p:sp>
      <p:sp>
        <p:nvSpPr>
          <p:cNvPr id="5" name="PageNum"/>
          <p:cNvSpPr txBox="1"/>
          <p:nvPr/>
        </p:nvSpPr>
        <p:spPr>
          <a:xfrm>
            <a:off x="11137392" y="652881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126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2551F"/>
                </a:solidFill>
                <a:latin typeface="Calibri"/>
              </a:rPr>
              <a:t>Hadoop</a:t>
            </a:r>
            <a:r>
              <a:rPr sz="1500" b="0" i="0">
                <a:solidFill>
                  <a:srgbClr val="1E2130"/>
                </a:solidFill>
                <a:latin typeface="Calibri"/>
              </a:rPr>
              <a:t> was the first framework designed to solve Big Data problems. It is called a </a:t>
            </a:r>
            <a:r>
              <a:rPr sz="1500" b="1" i="0">
                <a:solidFill>
                  <a:srgbClr val="1E2130"/>
                </a:solidFill>
                <a:latin typeface="Calibri"/>
              </a:rPr>
              <a:t>framework</a:t>
            </a:r>
            <a:r>
              <a:rPr sz="1500" b="0" i="0">
                <a:solidFill>
                  <a:srgbClr val="1E2130"/>
                </a:solidFill>
                <a:latin typeface="Calibri"/>
              </a:rPr>
              <a:t> because it is not a single tool, but an ecosystem of tools and technologies working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88920"/>
            <a:ext cx="61264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1000"/>
              </a:spcAft>
              <a:buClr>
                <a:srgbClr val="FF6B35"/>
              </a:buClr>
              <a:buSzPct val="90000"/>
              <a:buFont typeface="Segoe UI Symbol"/>
              <a:buChar char="✦"/>
            </a:pPr>
            <a:r>
              <a:rPr sz="1400" b="0" i="0">
                <a:solidFill>
                  <a:srgbClr val="1E2130"/>
                </a:solidFill>
                <a:latin typeface="Calibri"/>
              </a:rPr>
              <a:t>Built on a distributed architecture — a cluster of commodity machines, each with its own CPU, RAM and disk</a:t>
            </a:r>
          </a:p>
          <a:p>
            <a:pPr algn="l" marL="228600" indent="-228600">
              <a:spcAft>
                <a:spcPts val="1000"/>
              </a:spcAft>
              <a:buClr>
                <a:srgbClr val="FF6B35"/>
              </a:buClr>
              <a:buSzPct val="90000"/>
              <a:buFont typeface="Segoe UI Symbol"/>
              <a:buChar char="✦"/>
            </a:pPr>
            <a:r>
              <a:rPr sz="1400" b="0" i="0">
                <a:solidFill>
                  <a:srgbClr val="1E2130"/>
                </a:solidFill>
                <a:latin typeface="Calibri"/>
              </a:rPr>
              <a:t>Scales horizontally: add more nodes to add proportionally more storage and compute</a:t>
            </a:r>
          </a:p>
          <a:p>
            <a:pPr algn="l" marL="228600" indent="-228600">
              <a:spcAft>
                <a:spcPts val="1000"/>
              </a:spcAft>
              <a:buClr>
                <a:srgbClr val="FF6B35"/>
              </a:buClr>
              <a:buSzPct val="90000"/>
              <a:buFont typeface="Segoe UI Symbol"/>
              <a:buChar char="✦"/>
            </a:pPr>
            <a:r>
              <a:rPr sz="1400" b="0" i="0">
                <a:solidFill>
                  <a:srgbClr val="1E2130"/>
                </a:solidFill>
                <a:latin typeface="Calibri"/>
              </a:rPr>
              <a:t>Answers the three questions every Big Data system faces: where to store, how to process, and how to scale</a:t>
            </a:r>
          </a:p>
          <a:p>
            <a:pPr algn="l" marL="228600" indent="-228600">
              <a:spcAft>
                <a:spcPts val="1000"/>
              </a:spcAft>
              <a:buClr>
                <a:srgbClr val="FF6B35"/>
              </a:buClr>
              <a:buSzPct val="90000"/>
              <a:buFont typeface="Segoe UI Symbol"/>
              <a:buChar char="✦"/>
            </a:pPr>
            <a:r>
              <a:rPr sz="1400" b="0" i="0">
                <a:solidFill>
                  <a:srgbClr val="1E2130"/>
                </a:solidFill>
                <a:latin typeface="Calibri"/>
              </a:rPr>
              <a:t>Open-source project of the Apache Software Foundation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1600200"/>
            <a:ext cx="4572000" cy="4617720"/>
          </a:xfrm>
          <a:prstGeom prst="roundRect">
            <a:avLst>
              <a:gd name="adj" fmla="val 4000"/>
            </a:avLst>
          </a:prstGeom>
          <a:solidFill>
            <a:srgbClr val="1E2130"/>
          </a:solidFill>
          <a:ln>
            <a:noFill/>
          </a:ln>
          <a:effectLst>
            <a:outerShdw blurRad="101600" dist="25400" dir="5400000" algn="bl" rotWithShape="0">
              <a:srgbClr val="1E213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52360" y="1810512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mbria"/>
              </a:rPr>
              <a:t>Evolution of Hadoop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99831" y="2743200"/>
            <a:ext cx="0" cy="2194560"/>
          </a:xfrm>
          <a:prstGeom prst="line">
            <a:avLst/>
          </a:prstGeom>
          <a:ln w="25400">
            <a:solidFill>
              <a:srgbClr val="3F45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7452360" y="2468880"/>
            <a:ext cx="694944" cy="694944"/>
          </a:xfrm>
          <a:prstGeom prst="ellipse">
            <a:avLst/>
          </a:prstGeom>
          <a:solidFill>
            <a:srgbClr val="2A2E45"/>
          </a:solidFill>
          <a:ln w="9525">
            <a:solidFill>
              <a:srgbClr val="3F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52360" y="2468880"/>
            <a:ext cx="69494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2007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450592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mbria"/>
              </a:rPr>
              <a:t>Hadoop 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779776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C7CBDA"/>
                </a:solidFill>
                <a:latin typeface="Calibri"/>
              </a:rPr>
              <a:t>HDFS for storage + MapReduce for both processing and resource management</a:t>
            </a:r>
          </a:p>
        </p:txBody>
      </p:sp>
      <p:sp>
        <p:nvSpPr>
          <p:cNvPr id="15" name="Oval 14"/>
          <p:cNvSpPr/>
          <p:nvPr/>
        </p:nvSpPr>
        <p:spPr>
          <a:xfrm>
            <a:off x="7452360" y="3675888"/>
            <a:ext cx="694944" cy="694944"/>
          </a:xfrm>
          <a:prstGeom prst="ellipse">
            <a:avLst/>
          </a:prstGeom>
          <a:solidFill>
            <a:srgbClr val="2A2E45"/>
          </a:solidFill>
          <a:ln w="9525">
            <a:solidFill>
              <a:srgbClr val="3F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452360" y="3675888"/>
            <a:ext cx="69494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2012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657600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mbria"/>
              </a:rPr>
              <a:t>Hadoop 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986784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C7CBDA"/>
                </a:solidFill>
                <a:latin typeface="Calibri"/>
              </a:rPr>
              <a:t>YARN introduced as a dedicated resource manager, separating it from MapReduce</a:t>
            </a:r>
          </a:p>
        </p:txBody>
      </p:sp>
      <p:sp>
        <p:nvSpPr>
          <p:cNvPr id="19" name="Oval 18"/>
          <p:cNvSpPr/>
          <p:nvPr/>
        </p:nvSpPr>
        <p:spPr>
          <a:xfrm>
            <a:off x="7452360" y="4882896"/>
            <a:ext cx="694944" cy="69494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452360" y="4882896"/>
            <a:ext cx="69494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864608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mbria"/>
              </a:rPr>
              <a:t>Hadoop 3.x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5193792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C7CBDA"/>
                </a:solidFill>
                <a:latin typeface="Calibri"/>
              </a:rPr>
              <a:t>Current major version — HDFS and YARN remain widely used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spc="200">
                <a:solidFill>
                  <a:srgbClr val="E2551F"/>
                </a:solidFill>
                <a:latin typeface="Calibri"/>
              </a:rPr>
              <a:t>HADOOP · CORE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E2130"/>
                </a:solidFill>
                <a:latin typeface="Cambria"/>
              </a:rPr>
              <a:t>The Three Pillars of Hadoop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Apache Spark</a:t>
            </a:r>
          </a:p>
        </p:txBody>
      </p:sp>
      <p:sp>
        <p:nvSpPr>
          <p:cNvPr id="5" name="PageNum"/>
          <p:cNvSpPr txBox="1"/>
          <p:nvPr/>
        </p:nvSpPr>
        <p:spPr>
          <a:xfrm>
            <a:off x="11137392" y="652881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E2130"/>
                </a:solidFill>
                <a:latin typeface="Calibri"/>
              </a:rPr>
              <a:t>Every Hadoop cluster is built on three core components — one each for storage, processing and resource management.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3566160" cy="416052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>
            <a:outerShdw blurRad="101600" dist="25400" dir="5400000" algn="bl" rotWithShape="0">
              <a:srgbClr val="1E213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965960" y="2377440"/>
            <a:ext cx="640080" cy="6400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965960" y="23774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27248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1E2130"/>
                </a:solidFill>
                <a:latin typeface="Cambria"/>
              </a:rPr>
              <a:t>HDFS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204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Hadoop Distributed File 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3913632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80160" y="3913632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6B35"/>
                </a:solidFill>
                <a:latin typeface="Calibri"/>
              </a:rPr>
              <a:t>Distributed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98848"/>
            <a:ext cx="30175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600"/>
              </a:spcAft>
              <a:buClr>
                <a:srgbClr val="FF6B35"/>
              </a:buClr>
              <a:buSzPct val="90000"/>
              <a:buFont typeface="Segoe UI Symbol"/>
              <a:buChar char="✦"/>
            </a:pPr>
            <a:r>
              <a:rPr sz="1200" b="0" i="0">
                <a:solidFill>
                  <a:srgbClr val="1E2130"/>
                </a:solidFill>
                <a:latin typeface="Calibri"/>
              </a:rPr>
              <a:t>Files are split into blocks and spread across many machines</a:t>
            </a:r>
          </a:p>
          <a:p>
            <a:pPr algn="l" marL="228600" indent="-228600">
              <a:spcAft>
                <a:spcPts val="600"/>
              </a:spcAft>
              <a:buClr>
                <a:srgbClr val="FF6B35"/>
              </a:buClr>
              <a:buSzPct val="90000"/>
              <a:buFont typeface="Segoe UI Symbol"/>
              <a:buChar char="✦"/>
            </a:pPr>
            <a:r>
              <a:rPr sz="1200" b="0" i="0">
                <a:solidFill>
                  <a:srgbClr val="1E2130"/>
                </a:solidFill>
                <a:latin typeface="Calibri"/>
              </a:rPr>
              <a:t>Blocks are replicated for fault tolerance</a:t>
            </a:r>
          </a:p>
          <a:p>
            <a:pPr algn="l" marL="228600" indent="-228600">
              <a:spcAft>
                <a:spcPts val="600"/>
              </a:spcAft>
              <a:buClr>
                <a:srgbClr val="FF6B35"/>
              </a:buClr>
              <a:buSzPct val="90000"/>
              <a:buFont typeface="Segoe UI Symbol"/>
              <a:buChar char="✦"/>
            </a:pPr>
            <a:r>
              <a:rPr sz="1200" b="0" i="0">
                <a:solidFill>
                  <a:srgbClr val="1E2130"/>
                </a:solidFill>
                <a:latin typeface="Calibri"/>
              </a:rPr>
              <a:t>Still widely used today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103120"/>
            <a:ext cx="3566160" cy="4160520"/>
          </a:xfrm>
          <a:prstGeom prst="roundRect">
            <a:avLst>
              <a:gd name="adj" fmla="val 4000"/>
            </a:avLst>
          </a:prstGeom>
          <a:solidFill>
            <a:srgbClr val="1E2130"/>
          </a:solidFill>
          <a:ln>
            <a:noFill/>
          </a:ln>
          <a:effectLst>
            <a:outerShdw blurRad="101600" dist="25400" dir="5400000" algn="bl" rotWithShape="0">
              <a:srgbClr val="1E213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5760720" y="2377440"/>
            <a:ext cx="640080" cy="6400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60720" y="23774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127248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MapReduce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5204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C7CBDA"/>
                </a:solidFill>
                <a:latin typeface="Calibri"/>
              </a:rPr>
              <a:t>Programming model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74920" y="3913632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2A2E45"/>
          </a:solidFill>
          <a:ln w="9525">
            <a:solidFill>
              <a:srgbClr val="3F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074920" y="3913632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6B35"/>
                </a:solidFill>
                <a:latin typeface="Calibri"/>
              </a:rPr>
              <a:t>Distributed 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498848"/>
            <a:ext cx="30175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600"/>
              </a:spcAft>
              <a:buClr>
                <a:srgbClr val="FF6B35"/>
              </a:buClr>
              <a:buSzPct val="90000"/>
              <a:buFont typeface="Segoe UI Symbol"/>
              <a:buChar char="✦"/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Processes data where it lives, across the cluster</a:t>
            </a:r>
          </a:p>
          <a:p>
            <a:pPr algn="l" marL="228600" indent="-228600">
              <a:spcAft>
                <a:spcPts val="600"/>
              </a:spcAft>
              <a:buClr>
                <a:srgbClr val="FF6B35"/>
              </a:buClr>
              <a:buSzPct val="90000"/>
              <a:buFont typeface="Segoe UI Symbol"/>
              <a:buChar char="✦"/>
            </a:pPr>
            <a:r>
              <a:rPr sz="1200" b="0" i="0">
                <a:solidFill>
                  <a:srgbClr val="FFFFFF"/>
                </a:solidFill>
                <a:latin typeface="Calibri"/>
              </a:rPr>
              <a:t>Conventional single-machine programs can't do this</a:t>
            </a:r>
          </a:p>
          <a:p>
            <a:pPr algn="l" marL="228600" indent="-228600">
              <a:spcAft>
                <a:spcPts val="600"/>
              </a:spcAft>
              <a:buClr>
                <a:srgbClr val="FF6B35"/>
              </a:buClr>
              <a:buSzPct val="90000"/>
              <a:buFont typeface="Segoe UI Symbol"/>
              <a:buChar char="✦"/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Verbose Java code — now largely obsolete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2103120"/>
            <a:ext cx="3566160" cy="416052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>
            <a:outerShdw blurRad="101600" dist="25400" dir="5400000" algn="bl" rotWithShape="0">
              <a:srgbClr val="1E213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555480" y="2377440"/>
            <a:ext cx="640080" cy="6400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555480" y="23774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127248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1E2130"/>
                </a:solidFill>
                <a:latin typeface="Cambria"/>
              </a:rPr>
              <a:t>YARN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35204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Yet Another Resource Negotiator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9680" y="3913632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869680" y="3913632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6B35"/>
                </a:solidFill>
                <a:latin typeface="Calibri"/>
              </a:rPr>
              <a:t>Resource Management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498848"/>
            <a:ext cx="30175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600"/>
              </a:spcAft>
              <a:buClr>
                <a:srgbClr val="FF6B35"/>
              </a:buClr>
              <a:buSzPct val="90000"/>
              <a:buFont typeface="Segoe UI Symbol"/>
              <a:buChar char="✦"/>
            </a:pPr>
            <a:r>
              <a:rPr sz="1200" b="0" i="0">
                <a:solidFill>
                  <a:srgbClr val="1E2130"/>
                </a:solidFill>
                <a:latin typeface="Calibri"/>
              </a:rPr>
              <a:t>Negotiates and allocates CPU &amp; memory to jobs</a:t>
            </a:r>
          </a:p>
          <a:p>
            <a:pPr algn="l" marL="228600" indent="-228600">
              <a:spcAft>
                <a:spcPts val="600"/>
              </a:spcAft>
              <a:buClr>
                <a:srgbClr val="FF6B35"/>
              </a:buClr>
              <a:buSzPct val="90000"/>
              <a:buFont typeface="Segoe UI Symbol"/>
              <a:buChar char="✦"/>
            </a:pPr>
            <a:r>
              <a:rPr sz="1200" b="0" i="0">
                <a:solidFill>
                  <a:srgbClr val="1E2130"/>
                </a:solidFill>
                <a:latin typeface="Calibri"/>
              </a:rPr>
              <a:t>e.g. a 20-node cluster shared by many users</a:t>
            </a:r>
          </a:p>
          <a:p>
            <a:pPr algn="l" marL="228600" indent="-228600">
              <a:spcAft>
                <a:spcPts val="600"/>
              </a:spcAft>
              <a:buClr>
                <a:srgbClr val="FF6B35"/>
              </a:buClr>
              <a:buSzPct val="90000"/>
              <a:buFont typeface="Segoe UI Symbol"/>
              <a:buChar char="✦"/>
            </a:pPr>
            <a:r>
              <a:rPr sz="1200" b="0" i="0">
                <a:solidFill>
                  <a:srgbClr val="1E2130"/>
                </a:solidFill>
                <a:latin typeface="Calibri"/>
              </a:rPr>
              <a:t>Still widely used today — Spark can run on 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spc="200">
                <a:solidFill>
                  <a:srgbClr val="E2551F"/>
                </a:solidFill>
                <a:latin typeface="Calibri"/>
              </a:rPr>
              <a:t>HADOOP ·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E2130"/>
                </a:solidFill>
                <a:latin typeface="Cambria"/>
              </a:rPr>
              <a:t>HDFS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Apache Spark</a:t>
            </a:r>
          </a:p>
        </p:txBody>
      </p:sp>
      <p:sp>
        <p:nvSpPr>
          <p:cNvPr id="5" name="PageNum"/>
          <p:cNvSpPr txBox="1"/>
          <p:nvPr/>
        </p:nvSpPr>
        <p:spPr>
          <a:xfrm>
            <a:off x="11137392" y="652881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E2130"/>
                </a:solidFill>
                <a:latin typeface="Calibri"/>
              </a:rPr>
              <a:t>HDFS follows a master–worker design: one NameNode keeps the index, many DataNodes hold the actual data blocks.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31720"/>
            <a:ext cx="1737360" cy="1005840"/>
          </a:xfrm>
          <a:prstGeom prst="roundRect">
            <a:avLst>
              <a:gd name="adj" fmla="val 10000"/>
            </a:avLst>
          </a:prstGeom>
          <a:solidFill>
            <a:srgbClr val="2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02920" y="2331720"/>
            <a:ext cx="17373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Client</a:t>
            </a:r>
          </a:p>
          <a:p>
            <a:pPr algn="ctr"/>
            <a:r>
              <a:rPr sz="1000" b="0" i="0">
                <a:solidFill>
                  <a:srgbClr val="C7CBDA"/>
                </a:solidFill>
                <a:latin typeface="Calibri"/>
              </a:rPr>
              <a:t>Application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14884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1E2130"/>
          </a:solidFill>
          <a:ln>
            <a:noFill/>
          </a:ln>
          <a:effectLst>
            <a:outerShdw blurRad="101600" dist="25400" dir="5400000" algn="bl" rotWithShape="0">
              <a:srgbClr val="1E213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291840" y="22402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NameNode  (Master)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2670048"/>
            <a:ext cx="2834640" cy="658368"/>
          </a:xfrm>
          <a:prstGeom prst="roundRect">
            <a:avLst>
              <a:gd name="adj" fmla="val 8000"/>
            </a:avLst>
          </a:prstGeom>
          <a:solidFill>
            <a:srgbClr val="2A2E45"/>
          </a:solidFill>
          <a:ln w="9525">
            <a:solidFill>
              <a:srgbClr val="3F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520440" y="2670048"/>
            <a:ext cx="2834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6B35"/>
                </a:solidFill>
                <a:latin typeface="Calibri"/>
              </a:rPr>
              <a:t>Metadata table</a:t>
            </a:r>
          </a:p>
          <a:p>
            <a:pPr algn="ctr"/>
            <a:r>
              <a:rPr sz="1000" b="0" i="0">
                <a:solidFill>
                  <a:srgbClr val="C7CBDA"/>
                </a:solidFill>
                <a:latin typeface="Calibri"/>
              </a:rPr>
              <a:t>file → blocks → DataNode locations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2377440"/>
            <a:ext cx="1005840" cy="914400"/>
          </a:xfrm>
          <a:prstGeom prst="roundRect">
            <a:avLst>
              <a:gd name="adj" fmla="val 10000"/>
            </a:avLst>
          </a:prstGeom>
          <a:solidFill>
            <a:srgbClr val="F4F5F8"/>
          </a:solidFill>
          <a:ln w="9525">
            <a:solidFill>
              <a:srgbClr val="C7CBD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086600" y="2377440"/>
            <a:ext cx="10058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E2130"/>
                </a:solidFill>
                <a:latin typeface="Calibri"/>
              </a:rPr>
              <a:t>Secondary</a:t>
            </a:r>
          </a:p>
          <a:p>
            <a:pPr algn="ctr"/>
            <a:r>
              <a:rPr sz="1000" b="1" i="0">
                <a:solidFill>
                  <a:srgbClr val="1E2130"/>
                </a:solidFill>
                <a:latin typeface="Calibri"/>
              </a:rPr>
              <a:t>NameNode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83680" y="2834640"/>
            <a:ext cx="502920" cy="0"/>
          </a:xfrm>
          <a:prstGeom prst="line">
            <a:avLst/>
          </a:prstGeom>
          <a:ln w="15875">
            <a:solidFill>
              <a:srgbClr val="C7CBDA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40280" y="2606040"/>
            <a:ext cx="1051560" cy="0"/>
          </a:xfrm>
          <a:prstGeom prst="line">
            <a:avLst/>
          </a:prstGeom>
          <a:ln w="25400">
            <a:solidFill>
              <a:srgbClr val="FF6B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194560" y="2240280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① Where is file X?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2240280" y="3108960"/>
            <a:ext cx="1051560" cy="0"/>
          </a:xfrm>
          <a:prstGeom prst="line">
            <a:avLst/>
          </a:prstGeom>
          <a:ln w="25400">
            <a:solidFill>
              <a:srgbClr val="3F45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194560" y="3154680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② Block locations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80160" y="4480560"/>
            <a:ext cx="2148840" cy="160020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 w="9525">
            <a:solidFill>
              <a:srgbClr val="E6E8F0"/>
            </a:solidFill>
          </a:ln>
          <a:effectLst>
            <a:outerShdw blurRad="101600" dist="25400" dir="5400000" algn="bl" rotWithShape="0">
              <a:srgbClr val="1E213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280160" y="4553712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E2130"/>
                </a:solidFill>
                <a:latin typeface="Cambria"/>
              </a:rPr>
              <a:t>DataNode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39" y="5010912"/>
            <a:ext cx="548640" cy="502920"/>
          </a:xfrm>
          <a:prstGeom prst="roundRect">
            <a:avLst>
              <a:gd name="adj" fmla="val 12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463039" y="5010912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84831" y="5010912"/>
            <a:ext cx="548640" cy="502920"/>
          </a:xfrm>
          <a:prstGeom prst="roundRect">
            <a:avLst>
              <a:gd name="adj" fmla="val 12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084831" y="5010912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06624" y="5010912"/>
            <a:ext cx="548640" cy="502920"/>
          </a:xfrm>
          <a:prstGeom prst="roundRect">
            <a:avLst>
              <a:gd name="adj" fmla="val 12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2706624" y="5010912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596128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1">
                <a:solidFill>
                  <a:srgbClr val="6B7280"/>
                </a:solidFill>
                <a:latin typeface="Calibri"/>
              </a:rPr>
              <a:t>Stores data blocks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2354580" y="3520440"/>
            <a:ext cx="1668780" cy="960120"/>
          </a:xfrm>
          <a:prstGeom prst="line">
            <a:avLst/>
          </a:prstGeom>
          <a:ln w="15875">
            <a:solidFill>
              <a:srgbClr val="C7CBDA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657600" y="4480560"/>
            <a:ext cx="2148840" cy="160020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 w="9525">
            <a:solidFill>
              <a:srgbClr val="E6E8F0"/>
            </a:solidFill>
          </a:ln>
          <a:effectLst>
            <a:outerShdw blurRad="101600" dist="25400" dir="5400000" algn="bl" rotWithShape="0">
              <a:srgbClr val="1E213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657600" y="4553712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E2130"/>
                </a:solidFill>
                <a:latin typeface="Cambria"/>
              </a:rPr>
              <a:t>DataNode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0" y="5010912"/>
            <a:ext cx="548640" cy="502920"/>
          </a:xfrm>
          <a:prstGeom prst="roundRect">
            <a:avLst>
              <a:gd name="adj" fmla="val 12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3840480" y="5010912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62272" y="5010912"/>
            <a:ext cx="548640" cy="502920"/>
          </a:xfrm>
          <a:prstGeom prst="roundRect">
            <a:avLst>
              <a:gd name="adj" fmla="val 12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462272" y="5010912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84064" y="5010912"/>
            <a:ext cx="548640" cy="502920"/>
          </a:xfrm>
          <a:prstGeom prst="roundRect">
            <a:avLst>
              <a:gd name="adj" fmla="val 12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084064" y="5010912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5596128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1">
                <a:solidFill>
                  <a:srgbClr val="6B7280"/>
                </a:solidFill>
                <a:latin typeface="Calibri"/>
              </a:rPr>
              <a:t>Stores data blocks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4732020" y="3520440"/>
            <a:ext cx="205740" cy="960120"/>
          </a:xfrm>
          <a:prstGeom prst="line">
            <a:avLst/>
          </a:prstGeom>
          <a:ln w="15875">
            <a:solidFill>
              <a:srgbClr val="C7CBDA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035040" y="4480560"/>
            <a:ext cx="2148840" cy="160020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 w="9525">
            <a:solidFill>
              <a:srgbClr val="E6E8F0"/>
            </a:solidFill>
          </a:ln>
          <a:effectLst>
            <a:outerShdw blurRad="101600" dist="25400" dir="5400000" algn="bl" rotWithShape="0">
              <a:srgbClr val="1E213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035040" y="4553712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E2130"/>
                </a:solidFill>
                <a:latin typeface="Cambria"/>
              </a:rPr>
              <a:t>DataNode 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5010912"/>
            <a:ext cx="548640" cy="502920"/>
          </a:xfrm>
          <a:prstGeom prst="roundRect">
            <a:avLst>
              <a:gd name="adj" fmla="val 12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217920" y="5010912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39712" y="5010912"/>
            <a:ext cx="548640" cy="502920"/>
          </a:xfrm>
          <a:prstGeom prst="roundRect">
            <a:avLst>
              <a:gd name="adj" fmla="val 12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839712" y="5010912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61504" y="5010912"/>
            <a:ext cx="548640" cy="502920"/>
          </a:xfrm>
          <a:prstGeom prst="roundRect">
            <a:avLst>
              <a:gd name="adj" fmla="val 12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461504" y="5010912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5596128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1">
                <a:solidFill>
                  <a:srgbClr val="6B7280"/>
                </a:solidFill>
                <a:latin typeface="Calibri"/>
              </a:rPr>
              <a:t>Stores data blocks</a:t>
            </a:r>
          </a:p>
        </p:txBody>
      </p:sp>
      <p:cxnSp>
        <p:nvCxnSpPr>
          <p:cNvPr id="49" name="Connector 48"/>
          <p:cNvCxnSpPr/>
          <p:nvPr/>
        </p:nvCxnSpPr>
        <p:spPr>
          <a:xfrm flipH="1" flipV="1">
            <a:off x="5852160" y="3520440"/>
            <a:ext cx="1257299" cy="960120"/>
          </a:xfrm>
          <a:prstGeom prst="line">
            <a:avLst/>
          </a:prstGeom>
          <a:ln w="15875">
            <a:solidFill>
              <a:srgbClr val="C7CBDA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371600" y="3337560"/>
            <a:ext cx="365760" cy="1143000"/>
          </a:xfrm>
          <a:prstGeom prst="line">
            <a:avLst/>
          </a:prstGeom>
          <a:ln w="25400">
            <a:solidFill>
              <a:srgbClr val="FF6B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20040" y="3703320"/>
            <a:ext cx="1234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③ Read blocks directly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20640" y="376732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heartbeats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41080" y="2148840"/>
            <a:ext cx="3017520" cy="3931920"/>
          </a:xfrm>
          <a:prstGeom prst="roundRect">
            <a:avLst>
              <a:gd name="adj" fmla="val 5000"/>
            </a:avLst>
          </a:prstGeom>
          <a:solidFill>
            <a:srgbClr val="1E2130"/>
          </a:solidFill>
          <a:ln>
            <a:noFill/>
          </a:ln>
          <a:effectLst>
            <a:outerShdw blurRad="101600" dist="25400" dir="5400000" algn="bl" rotWithShape="0">
              <a:srgbClr val="1E213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8869680" y="22860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Keeping the cluster healthy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69680" y="269748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 i="0">
                <a:solidFill>
                  <a:srgbClr val="FF6B35"/>
                </a:solidFill>
                <a:latin typeface="Cambria"/>
              </a:rPr>
              <a:t>3s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21240" y="2743200"/>
            <a:ext cx="1600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C7CBDA"/>
                </a:solidFill>
                <a:latin typeface="Calibri"/>
              </a:rPr>
              <a:t>Each DataNode sends a heartbeat to the NameNode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69680" y="3520440"/>
            <a:ext cx="2651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600"/>
              </a:spcAft>
              <a:buClr>
                <a:srgbClr val="FF6B35"/>
              </a:buClr>
              <a:buSzPct val="90000"/>
              <a:buFont typeface="Segoe UI Symbol"/>
              <a:buChar char="✦"/>
            </a:pPr>
            <a:r>
              <a:rPr sz="1050" b="0" i="0">
                <a:solidFill>
                  <a:srgbClr val="FFFFFF"/>
                </a:solidFill>
                <a:latin typeface="Calibri"/>
              </a:rPr>
              <a:t>Missed heartbeats beyond the timeout → DataNode marked dead; its blocks are re-replicated</a:t>
            </a:r>
          </a:p>
          <a:p>
            <a:pPr algn="l" marL="228600" indent="-228600">
              <a:spcAft>
                <a:spcPts val="600"/>
              </a:spcAft>
              <a:buClr>
                <a:srgbClr val="FF6B35"/>
              </a:buClr>
              <a:buSzPct val="90000"/>
              <a:buFont typeface="Segoe UI Symbol"/>
              <a:buChar char="✦"/>
            </a:pPr>
            <a:r>
              <a:rPr sz="1050" b="0" i="0">
                <a:solidFill>
                  <a:srgbClr val="FFFFFF"/>
                </a:solidFill>
                <a:latin typeface="Calibri"/>
              </a:rPr>
              <a:t>NameNode runs on high-quality hardware — failure is rare</a:t>
            </a:r>
          </a:p>
          <a:p>
            <a:pPr algn="l" marL="228600" indent="-228600">
              <a:spcAft>
                <a:spcPts val="600"/>
              </a:spcAft>
              <a:buClr>
                <a:srgbClr val="FF6B35"/>
              </a:buClr>
              <a:buSzPct val="90000"/>
              <a:buFont typeface="Segoe UI Symbol"/>
              <a:buChar char="✦"/>
            </a:pPr>
            <a:r>
              <a:rPr sz="1050" b="0" i="0">
                <a:solidFill>
                  <a:srgbClr val="FFFFFF"/>
                </a:solidFill>
                <a:latin typeface="Calibri"/>
              </a:rPr>
              <a:t>Secondary NameNode checkpoints metadata; HA clusters add a Standby NameNode for failover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spc="200">
                <a:solidFill>
                  <a:srgbClr val="E2551F"/>
                </a:solidFill>
                <a:latin typeface="Calibri"/>
              </a:rPr>
              <a:t>HADOOP ·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E2130"/>
                </a:solidFill>
                <a:latin typeface="Cambria"/>
              </a:rPr>
              <a:t>The Hadoop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Apache Spark</a:t>
            </a:r>
          </a:p>
        </p:txBody>
      </p:sp>
      <p:sp>
        <p:nvSpPr>
          <p:cNvPr id="5" name="PageNum"/>
          <p:cNvSpPr txBox="1"/>
          <p:nvPr/>
        </p:nvSpPr>
        <p:spPr>
          <a:xfrm>
            <a:off x="11137392" y="652881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E2130"/>
                </a:solidFill>
                <a:latin typeface="Calibri"/>
              </a:rPr>
              <a:t>Around the core, ecosystem tools make specific jobs easier — but most of them still run MapReduce under the hood.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2084831" cy="3154680"/>
          </a:xfrm>
          <a:prstGeom prst="roundRect">
            <a:avLst>
              <a:gd name="adj" fmla="val 5000"/>
            </a:avLst>
          </a:prstGeom>
          <a:solidFill>
            <a:srgbClr val="F4F5F8"/>
          </a:solidFill>
          <a:ln>
            <a:noFill/>
          </a:ln>
          <a:effectLst>
            <a:outerShdw blurRad="101600" dist="25400" dir="5400000" algn="bl" rotWithShape="0">
              <a:srgbClr val="1E213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216152" y="2304288"/>
            <a:ext cx="658368" cy="658368"/>
          </a:xfrm>
          <a:prstGeom prst="ellipse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16152" y="2304288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6B35"/>
                </a:solidFill>
                <a:latin typeface="Cambria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35808"/>
            <a:ext cx="190195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1E2130"/>
                </a:solidFill>
                <a:latin typeface="Cambria"/>
              </a:rPr>
              <a:t>Sqoop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83280"/>
            <a:ext cx="190195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 spc="100">
                <a:solidFill>
                  <a:srgbClr val="E2551F"/>
                </a:solidFill>
                <a:latin typeface="Calibri"/>
              </a:rPr>
              <a:t>DATA MOVEMENT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30752"/>
            <a:ext cx="171907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E2130"/>
                </a:solidFill>
                <a:latin typeface="Calibri"/>
              </a:rPr>
              <a:t>Imports / exports data between relational databases and HDFS.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26280"/>
            <a:ext cx="181051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Runs on: </a:t>
            </a:r>
            <a:r>
              <a:rPr sz="1000" b="1" i="0">
                <a:solidFill>
                  <a:srgbClr val="1E2130"/>
                </a:solidFill>
                <a:latin typeface="Calibri"/>
              </a:rPr>
              <a:t>MapReduce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00600"/>
            <a:ext cx="181051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Cloud alt: </a:t>
            </a:r>
            <a:r>
              <a:rPr sz="1000" b="1" i="0">
                <a:solidFill>
                  <a:srgbClr val="1E2130"/>
                </a:solidFill>
                <a:latin typeface="Calibri"/>
              </a:rPr>
              <a:t>Azure Data Factory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70632" y="2103120"/>
            <a:ext cx="2084831" cy="3154680"/>
          </a:xfrm>
          <a:prstGeom prst="roundRect">
            <a:avLst>
              <a:gd name="adj" fmla="val 5000"/>
            </a:avLst>
          </a:prstGeom>
          <a:solidFill>
            <a:srgbClr val="F4F5F8"/>
          </a:solidFill>
          <a:ln>
            <a:noFill/>
          </a:ln>
          <a:effectLst>
            <a:outerShdw blurRad="101600" dist="25400" dir="5400000" algn="bl" rotWithShape="0">
              <a:srgbClr val="1E213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3483864" y="2304288"/>
            <a:ext cx="658368" cy="658368"/>
          </a:xfrm>
          <a:prstGeom prst="ellipse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483864" y="2304288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6B35"/>
                </a:solidFill>
                <a:latin typeface="Cambria"/>
              </a:rPr>
              <a:t>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62072" y="3035808"/>
            <a:ext cx="190195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1E2130"/>
                </a:solidFill>
                <a:latin typeface="Cambria"/>
              </a:rPr>
              <a:t>Pig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62072" y="3383280"/>
            <a:ext cx="190195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 spc="100">
                <a:solidFill>
                  <a:srgbClr val="E2551F"/>
                </a:solidFill>
                <a:latin typeface="Calibri"/>
              </a:rPr>
              <a:t>DATA CLEANING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53512" y="3730752"/>
            <a:ext cx="171907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E2130"/>
                </a:solidFill>
                <a:latin typeface="Calibri"/>
              </a:rPr>
              <a:t>Scripting language used mainly to clean and prepare data.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07792" y="4526280"/>
            <a:ext cx="181051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Runs on: </a:t>
            </a:r>
            <a:r>
              <a:rPr sz="1000" b="1" i="0">
                <a:solidFill>
                  <a:srgbClr val="1E2130"/>
                </a:solidFill>
                <a:latin typeface="Calibri"/>
              </a:rPr>
              <a:t>MapReduce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07792" y="4800600"/>
            <a:ext cx="181051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Cloud alt: </a:t>
            </a:r>
            <a:r>
              <a:rPr sz="1000" b="1" i="0">
                <a:solidFill>
                  <a:srgbClr val="1E2130"/>
                </a:solidFill>
                <a:latin typeface="Calibri"/>
              </a:rPr>
              <a:t>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38344" y="2103120"/>
            <a:ext cx="2084831" cy="3154680"/>
          </a:xfrm>
          <a:prstGeom prst="roundRect">
            <a:avLst>
              <a:gd name="adj" fmla="val 5000"/>
            </a:avLst>
          </a:prstGeom>
          <a:solidFill>
            <a:srgbClr val="F4F5F8"/>
          </a:solidFill>
          <a:ln>
            <a:noFill/>
          </a:ln>
          <a:effectLst>
            <a:outerShdw blurRad="101600" dist="25400" dir="5400000" algn="bl" rotWithShape="0">
              <a:srgbClr val="1E213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5751575" y="2304288"/>
            <a:ext cx="658368" cy="658368"/>
          </a:xfrm>
          <a:prstGeom prst="ellipse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751575" y="2304288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6B35"/>
                </a:solidFill>
                <a:latin typeface="Cambria"/>
              </a:rPr>
              <a:t>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9783" y="3035808"/>
            <a:ext cx="190195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1E2130"/>
                </a:solidFill>
                <a:latin typeface="Cambria"/>
              </a:rPr>
              <a:t>Hive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9783" y="3383280"/>
            <a:ext cx="190195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 spc="100">
                <a:solidFill>
                  <a:srgbClr val="E2551F"/>
                </a:solidFill>
                <a:latin typeface="Calibri"/>
              </a:rPr>
              <a:t>SQL QUERYING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21224" y="3730752"/>
            <a:ext cx="171907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E2130"/>
                </a:solidFill>
                <a:latin typeface="Calibri"/>
              </a:rPr>
              <a:t>SQL-like interface for querying data stored in HDFS.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75504" y="4526280"/>
            <a:ext cx="181051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Runs on: </a:t>
            </a:r>
            <a:r>
              <a:rPr sz="1000" b="1" i="0">
                <a:solidFill>
                  <a:srgbClr val="1E2130"/>
                </a:solidFill>
                <a:latin typeface="Calibri"/>
              </a:rPr>
              <a:t>MapReduce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75504" y="4800600"/>
            <a:ext cx="181051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Cloud alt: </a:t>
            </a:r>
            <a:r>
              <a:rPr sz="1000" b="1" i="0">
                <a:solidFill>
                  <a:srgbClr val="1E2130"/>
                </a:solidFill>
                <a:latin typeface="Calibri"/>
              </a:rPr>
              <a:t>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06055" y="2103120"/>
            <a:ext cx="2084831" cy="3154680"/>
          </a:xfrm>
          <a:prstGeom prst="roundRect">
            <a:avLst>
              <a:gd name="adj" fmla="val 5000"/>
            </a:avLst>
          </a:prstGeom>
          <a:solidFill>
            <a:srgbClr val="F4F5F8"/>
          </a:solidFill>
          <a:ln>
            <a:noFill/>
          </a:ln>
          <a:effectLst>
            <a:outerShdw blurRad="101600" dist="25400" dir="5400000" algn="bl" rotWithShape="0">
              <a:srgbClr val="1E213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8019288" y="2304288"/>
            <a:ext cx="658368" cy="658368"/>
          </a:xfrm>
          <a:prstGeom prst="ellipse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019288" y="2304288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6B35"/>
                </a:solidFill>
                <a:latin typeface="Cambria"/>
              </a:rPr>
              <a:t>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7496" y="3035808"/>
            <a:ext cx="190195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1E2130"/>
                </a:solidFill>
                <a:latin typeface="Cambria"/>
              </a:rPr>
              <a:t>Oozie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97496" y="3383280"/>
            <a:ext cx="190195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 spc="100">
                <a:solidFill>
                  <a:srgbClr val="E2551F"/>
                </a:solidFill>
                <a:latin typeface="Calibri"/>
              </a:rPr>
              <a:t>WORKFLOW SCHEDULING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8936" y="3730752"/>
            <a:ext cx="171907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E2130"/>
                </a:solidFill>
                <a:latin typeface="Calibri"/>
              </a:rPr>
              <a:t>Orchestrates jobs, e.g. run M1 &amp; M2 in parallel, then M3.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43215" y="4526280"/>
            <a:ext cx="181051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Runs on: </a:t>
            </a:r>
            <a:r>
              <a:rPr sz="1000" b="1" i="0">
                <a:solidFill>
                  <a:srgbClr val="1E2130"/>
                </a:solidFill>
                <a:latin typeface="Calibri"/>
              </a:rPr>
              <a:t>Hadoop jobs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43215" y="4800600"/>
            <a:ext cx="181051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Cloud alt: </a:t>
            </a:r>
            <a:r>
              <a:rPr sz="1000" b="1" i="0">
                <a:solidFill>
                  <a:srgbClr val="1E2130"/>
                </a:solidFill>
                <a:latin typeface="Calibri"/>
              </a:rPr>
              <a:t>Azure Data Factory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73768" y="2103120"/>
            <a:ext cx="2084831" cy="3154680"/>
          </a:xfrm>
          <a:prstGeom prst="roundRect">
            <a:avLst>
              <a:gd name="adj" fmla="val 5000"/>
            </a:avLst>
          </a:prstGeom>
          <a:solidFill>
            <a:srgbClr val="F4F5F8"/>
          </a:solidFill>
          <a:ln>
            <a:noFill/>
          </a:ln>
          <a:effectLst>
            <a:outerShdw blurRad="101600" dist="25400" dir="5400000" algn="bl" rotWithShape="0">
              <a:srgbClr val="1E213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10287000" y="2304288"/>
            <a:ext cx="658368" cy="658368"/>
          </a:xfrm>
          <a:prstGeom prst="ellipse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0287000" y="2304288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6B35"/>
                </a:solidFill>
                <a:latin typeface="Cambria"/>
              </a:rPr>
              <a:t>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5208" y="3035808"/>
            <a:ext cx="190195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1E2130"/>
                </a:solidFill>
                <a:latin typeface="Cambria"/>
              </a:rPr>
              <a:t>HBase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65208" y="3383280"/>
            <a:ext cx="190195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 spc="100">
                <a:solidFill>
                  <a:srgbClr val="E2551F"/>
                </a:solidFill>
                <a:latin typeface="Calibri"/>
              </a:rPr>
              <a:t>NOSQL DATABASE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56648" y="3730752"/>
            <a:ext cx="171907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E2130"/>
                </a:solidFill>
                <a:latin typeface="Calibri"/>
              </a:rPr>
              <a:t>Instant random access to individual records for fast lookups.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10928" y="4526280"/>
            <a:ext cx="181051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Runs on: </a:t>
            </a:r>
            <a:r>
              <a:rPr sz="1000" b="1" i="0">
                <a:solidFill>
                  <a:srgbClr val="1E2130"/>
                </a:solidFill>
                <a:latin typeface="Calibri"/>
              </a:rPr>
              <a:t>HDFS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10928" y="4800600"/>
            <a:ext cx="181051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Cloud alt: </a:t>
            </a:r>
            <a:r>
              <a:rPr sz="1000" b="1" i="0">
                <a:solidFill>
                  <a:srgbClr val="1E2130"/>
                </a:solidFill>
                <a:latin typeface="Calibri"/>
              </a:rPr>
              <a:t>Cosmos DB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5486400"/>
            <a:ext cx="11155680" cy="777240"/>
          </a:xfrm>
          <a:prstGeom prst="roundRect">
            <a:avLst>
              <a:gd name="adj" fmla="val 12000"/>
            </a:avLst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77240" y="5486400"/>
            <a:ext cx="20116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mbria"/>
              </a:rPr>
              <a:t>Hadoop Core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017520" y="5641848"/>
            <a:ext cx="2651760" cy="466344"/>
          </a:xfrm>
          <a:prstGeom prst="roundRect">
            <a:avLst>
              <a:gd name="adj" fmla="val 50000"/>
            </a:avLst>
          </a:prstGeom>
          <a:solidFill>
            <a:srgbClr val="2A2E45"/>
          </a:solidFill>
          <a:ln w="9525">
            <a:solidFill>
              <a:srgbClr val="3F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3017520" y="5641848"/>
            <a:ext cx="2651760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6B35"/>
                </a:solidFill>
                <a:latin typeface="Calibri"/>
              </a:rPr>
              <a:t>HDFS</a:t>
            </a:r>
            <a:r>
              <a:rPr sz="1200" b="0" i="0">
                <a:solidFill>
                  <a:srgbClr val="C7CBDA"/>
                </a:solidFill>
                <a:latin typeface="Calibri"/>
              </a:rPr>
              <a:t>  ·  Storage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852160" y="5641848"/>
            <a:ext cx="2651760" cy="466344"/>
          </a:xfrm>
          <a:prstGeom prst="roundRect">
            <a:avLst>
              <a:gd name="adj" fmla="val 50000"/>
            </a:avLst>
          </a:prstGeom>
          <a:solidFill>
            <a:srgbClr val="2A2E45"/>
          </a:solidFill>
          <a:ln w="9525">
            <a:solidFill>
              <a:srgbClr val="3F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852160" y="5641848"/>
            <a:ext cx="2651760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6B35"/>
                </a:solidFill>
                <a:latin typeface="Calibri"/>
              </a:rPr>
              <a:t>MapReduce</a:t>
            </a:r>
            <a:r>
              <a:rPr sz="1200" b="0" i="0">
                <a:solidFill>
                  <a:srgbClr val="C7CBDA"/>
                </a:solidFill>
                <a:latin typeface="Calibri"/>
              </a:rPr>
              <a:t>  ·  Processing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86800" y="5641848"/>
            <a:ext cx="2651760" cy="466344"/>
          </a:xfrm>
          <a:prstGeom prst="roundRect">
            <a:avLst>
              <a:gd name="adj" fmla="val 50000"/>
            </a:avLst>
          </a:prstGeom>
          <a:solidFill>
            <a:srgbClr val="2A2E45"/>
          </a:solidFill>
          <a:ln w="9525">
            <a:solidFill>
              <a:srgbClr val="3F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8686800" y="5641848"/>
            <a:ext cx="2651760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6B35"/>
                </a:solidFill>
                <a:latin typeface="Calibri"/>
              </a:rPr>
              <a:t>YARN</a:t>
            </a:r>
            <a:r>
              <a:rPr sz="1200" b="0" i="0">
                <a:solidFill>
                  <a:srgbClr val="C7CBDA"/>
                </a:solidFill>
                <a:latin typeface="Calibri"/>
              </a:rPr>
              <a:t>  ·  Resource Mgmt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spc="200">
                <a:solidFill>
                  <a:srgbClr val="E2551F"/>
                </a:solidFill>
                <a:latin typeface="Calibri"/>
              </a:rPr>
              <a:t>HADOOP · IN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E2130"/>
                </a:solidFill>
                <a:latin typeface="Cambria"/>
              </a:rPr>
              <a:t>A Data Pipeline on Hadoop (On-Premise)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Apache Spark</a:t>
            </a:r>
          </a:p>
        </p:txBody>
      </p:sp>
      <p:sp>
        <p:nvSpPr>
          <p:cNvPr id="5" name="PageNum"/>
          <p:cNvSpPr txBox="1"/>
          <p:nvPr/>
        </p:nvSpPr>
        <p:spPr>
          <a:xfrm>
            <a:off x="11137392" y="652881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E2130"/>
                </a:solidFill>
                <a:latin typeface="Calibri"/>
              </a:rPr>
              <a:t>A typical on-premise flow: ingest from a database, land in HDFS, process, then serve results to reporting or applications.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0603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150">
                <a:solidFill>
                  <a:srgbClr val="E2551F"/>
                </a:solidFill>
                <a:latin typeface="Calibri"/>
              </a:rPr>
              <a:t>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017520"/>
            <a:ext cx="1828800" cy="960120"/>
          </a:xfrm>
          <a:prstGeom prst="roundRect">
            <a:avLst>
              <a:gd name="adj" fmla="val 10000"/>
            </a:avLst>
          </a:prstGeom>
          <a:solidFill>
            <a:srgbClr val="2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2920" y="3017520"/>
            <a:ext cx="18288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MySQL</a:t>
            </a:r>
          </a:p>
          <a:p>
            <a:pPr algn="ctr"/>
            <a:r>
              <a:rPr sz="1000" b="0" i="1">
                <a:solidFill>
                  <a:srgbClr val="C7CBDA"/>
                </a:solidFill>
                <a:latin typeface="Calibri"/>
              </a:rPr>
              <a:t>RDBMS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31720" y="3497579"/>
            <a:ext cx="365760" cy="0"/>
          </a:xfrm>
          <a:prstGeom prst="line">
            <a:avLst/>
          </a:prstGeom>
          <a:ln w="25400">
            <a:solidFill>
              <a:srgbClr val="3F45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697480" y="260603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150">
                <a:solidFill>
                  <a:srgbClr val="E2551F"/>
                </a:solidFill>
                <a:latin typeface="Calibri"/>
              </a:rPr>
              <a:t>INGESTION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80" y="3017520"/>
            <a:ext cx="1828800" cy="960120"/>
          </a:xfrm>
          <a:prstGeom prst="roundRect">
            <a:avLst>
              <a:gd name="adj" fmla="val 10000"/>
            </a:avLst>
          </a:prstGeom>
          <a:solidFill>
            <a:srgbClr val="2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97480" y="3017520"/>
            <a:ext cx="18288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Sqoop</a:t>
            </a:r>
          </a:p>
          <a:p>
            <a:pPr algn="ctr"/>
            <a:r>
              <a:rPr sz="1000" b="0" i="1">
                <a:solidFill>
                  <a:srgbClr val="C7CBDA"/>
                </a:solidFill>
                <a:latin typeface="Calibri"/>
              </a:rPr>
              <a:t>import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26280" y="3497579"/>
            <a:ext cx="365760" cy="0"/>
          </a:xfrm>
          <a:prstGeom prst="line">
            <a:avLst/>
          </a:prstGeom>
          <a:ln w="25400">
            <a:solidFill>
              <a:srgbClr val="3F45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892040" y="260603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150">
                <a:solidFill>
                  <a:srgbClr val="E2551F"/>
                </a:solidFill>
                <a:latin typeface="Calibri"/>
              </a:rPr>
              <a:t>STORAGE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3017520"/>
            <a:ext cx="1828800" cy="960120"/>
          </a:xfrm>
          <a:prstGeom prst="roundRect">
            <a:avLst>
              <a:gd name="adj" fmla="val 10000"/>
            </a:avLst>
          </a:prstGeom>
          <a:solidFill>
            <a:srgbClr val="2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892040" y="3017520"/>
            <a:ext cx="18288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HDFS</a:t>
            </a:r>
          </a:p>
          <a:p>
            <a:pPr algn="ctr"/>
            <a:r>
              <a:rPr sz="1000" b="0" i="1">
                <a:solidFill>
                  <a:srgbClr val="C7CBDA"/>
                </a:solidFill>
                <a:latin typeface="Calibri"/>
              </a:rPr>
              <a:t>data lake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20840" y="3497579"/>
            <a:ext cx="365760" cy="0"/>
          </a:xfrm>
          <a:prstGeom prst="line">
            <a:avLst/>
          </a:prstGeom>
          <a:ln w="25400">
            <a:solidFill>
              <a:srgbClr val="3F45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086600" y="260603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150">
                <a:solidFill>
                  <a:srgbClr val="E2551F"/>
                </a:solidFill>
                <a:latin typeface="Calibri"/>
              </a:rPr>
              <a:t>PROCESSING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3017520"/>
            <a:ext cx="1828800" cy="960120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>
            <a:noFill/>
          </a:ln>
          <a:effectLst>
            <a:outerShdw blurRad="101600" dist="25400" dir="5400000" algn="bl" rotWithShape="0">
              <a:srgbClr val="1E213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086600" y="3017520"/>
            <a:ext cx="18288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MapReduce / Spark</a:t>
            </a:r>
          </a:p>
          <a:p>
            <a:pPr algn="ctr"/>
            <a:r>
              <a:rPr sz="1000" b="0" i="1">
                <a:solidFill>
                  <a:srgbClr val="FFFFFF"/>
                </a:solidFill>
                <a:latin typeface="Calibri"/>
              </a:rPr>
              <a:t>transform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148839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150">
                <a:solidFill>
                  <a:srgbClr val="E2551F"/>
                </a:solidFill>
                <a:latin typeface="Calibri"/>
              </a:rPr>
              <a:t>SERVING  →  CONSUMER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2395728"/>
            <a:ext cx="1188720" cy="685800"/>
          </a:xfrm>
          <a:prstGeom prst="roundRect">
            <a:avLst>
              <a:gd name="adj" fmla="val 12000"/>
            </a:avLst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281160" y="2395728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Hive / MySQL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469880" y="2738628"/>
            <a:ext cx="182880" cy="0"/>
          </a:xfrm>
          <a:prstGeom prst="line">
            <a:avLst/>
          </a:prstGeom>
          <a:ln w="19050">
            <a:solidFill>
              <a:srgbClr val="3F45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652760" y="2395728"/>
            <a:ext cx="1005840" cy="685800"/>
          </a:xfrm>
          <a:prstGeom prst="roundRect">
            <a:avLst>
              <a:gd name="adj" fmla="val 12000"/>
            </a:avLst>
          </a:prstGeom>
          <a:solidFill>
            <a:srgbClr val="F4F5F8"/>
          </a:solidFill>
          <a:ln w="9525">
            <a:solidFill>
              <a:srgbClr val="E6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652760" y="2395728"/>
            <a:ext cx="1005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E2130"/>
                </a:solidFill>
                <a:latin typeface="Calibri"/>
              </a:rPr>
              <a:t>Tableau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8915400" y="2738628"/>
            <a:ext cx="365760" cy="758951"/>
          </a:xfrm>
          <a:prstGeom prst="line">
            <a:avLst/>
          </a:prstGeom>
          <a:ln w="19050">
            <a:solidFill>
              <a:srgbClr val="3F45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281160" y="3630168"/>
            <a:ext cx="1188720" cy="685800"/>
          </a:xfrm>
          <a:prstGeom prst="roundRect">
            <a:avLst>
              <a:gd name="adj" fmla="val 12000"/>
            </a:avLst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281160" y="3630168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HBase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469880" y="3973068"/>
            <a:ext cx="182880" cy="0"/>
          </a:xfrm>
          <a:prstGeom prst="line">
            <a:avLst/>
          </a:prstGeom>
          <a:ln w="19050">
            <a:solidFill>
              <a:srgbClr val="3F45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652760" y="3630168"/>
            <a:ext cx="1005840" cy="685800"/>
          </a:xfrm>
          <a:prstGeom prst="roundRect">
            <a:avLst>
              <a:gd name="adj" fmla="val 12000"/>
            </a:avLst>
          </a:prstGeom>
          <a:solidFill>
            <a:srgbClr val="F4F5F8"/>
          </a:solidFill>
          <a:ln w="9525">
            <a:solidFill>
              <a:srgbClr val="E6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0652760" y="3630168"/>
            <a:ext cx="1005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E2130"/>
                </a:solidFill>
                <a:latin typeface="Calibri"/>
              </a:rPr>
              <a:t>Custom UI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915400" y="3497579"/>
            <a:ext cx="365760" cy="475489"/>
          </a:xfrm>
          <a:prstGeom prst="line">
            <a:avLst/>
          </a:prstGeom>
          <a:ln w="19050">
            <a:solidFill>
              <a:srgbClr val="3F45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086600" y="406907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E2551F"/>
                </a:solidFill>
                <a:latin typeface="Calibri"/>
              </a:rPr>
              <a:t>↑ Spark slots in here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4617720"/>
            <a:ext cx="5486400" cy="132588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>
            <a:outerShdw blurRad="101600" dist="25400" dir="5400000" algn="bl" rotWithShape="0">
              <a:srgbClr val="1E213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777240" y="4846320"/>
            <a:ext cx="457200" cy="457200"/>
          </a:xfrm>
          <a:prstGeom prst="ellipse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77240" y="48463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6B35"/>
                </a:solidFill>
                <a:latin typeface="Calibri"/>
              </a:rPr>
              <a:t>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20" y="4828032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E2130"/>
                </a:solidFill>
                <a:latin typeface="Cambria"/>
              </a:rPr>
              <a:t>Reporting path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5303520"/>
            <a:ext cx="4389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Database / Data Warehouse in the serving layer (e.g. Hive, MySQL) when the goal is reporting and dashboards in tools like Tableau.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4617720"/>
            <a:ext cx="5486400" cy="132588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>
            <a:outerShdw blurRad="101600" dist="25400" dir="5400000" algn="bl" rotWithShape="0">
              <a:srgbClr val="1E213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6446520" y="4846320"/>
            <a:ext cx="457200" cy="457200"/>
          </a:xfrm>
          <a:prstGeom prst="ellipse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446520" y="48463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6B35"/>
                </a:solidFill>
                <a:latin typeface="Calibri"/>
              </a:rPr>
              <a:t>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86600" y="4828032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E2130"/>
                </a:solidFill>
                <a:latin typeface="Cambria"/>
              </a:rPr>
              <a:t>Application path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5303520"/>
            <a:ext cx="4389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NoSQL in the serving layer (e.g. HBase) when building custom UIs that need very fast retrieval of individual records.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spc="200">
                <a:solidFill>
                  <a:srgbClr val="E2551F"/>
                </a:solidFill>
                <a:latin typeface="Calibri"/>
              </a:rPr>
              <a:t>HADOOP ·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E2130"/>
                </a:solidFill>
                <a:latin typeface="Cambria"/>
              </a:rPr>
              <a:t>Hadoop’s Challenges — and Where Spark 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Apache Spark</a:t>
            </a:r>
          </a:p>
        </p:txBody>
      </p:sp>
      <p:sp>
        <p:nvSpPr>
          <p:cNvPr id="5" name="PageNum"/>
          <p:cNvSpPr txBox="1"/>
          <p:nvPr/>
        </p:nvSpPr>
        <p:spPr>
          <a:xfrm>
            <a:off x="11137392" y="652881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120640" cy="178308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>
            <a:outerShdw blurRad="101600" dist="25400" dir="5400000" algn="bl" rotWithShape="0">
              <a:srgbClr val="1E213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74519"/>
            <a:ext cx="566928" cy="566928"/>
          </a:xfrm>
          <a:prstGeom prst="ellipse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56232"/>
            <a:ext cx="38404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1E2130"/>
                </a:solidFill>
                <a:latin typeface="Cambria"/>
              </a:rPr>
              <a:t>MapReduce is slow and hard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496312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Calibri"/>
              </a:rPr>
              <a:t>Writes to disk between stages, and even a simple task takes many lines of Java code. Today it is considered obsolete.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611880"/>
            <a:ext cx="5120640" cy="178308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>
            <a:outerShdw blurRad="101600" dist="25400" dir="5400000" algn="bl" rotWithShape="0">
              <a:srgbClr val="1E213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777240" y="3886200"/>
            <a:ext cx="566928" cy="566928"/>
          </a:xfrm>
          <a:prstGeom prst="ellipse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7240" y="38862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867912"/>
            <a:ext cx="38404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1E2130"/>
                </a:solidFill>
                <a:latin typeface="Cambria"/>
              </a:rPr>
              <a:t>A tool for every task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507992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Calibri"/>
              </a:rPr>
              <a:t>Cleaning needs Pig, querying needs Hive, ingestion needs Sqoop — each with its own steep learning curve.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71500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1E2130"/>
                </a:solidFill>
                <a:latin typeface="Calibri"/>
              </a:rPr>
              <a:t>The Big Data era started with Hadoop. HDFS and YARN are still in use — MapReduce is not.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1600200"/>
            <a:ext cx="5623560" cy="4663440"/>
          </a:xfrm>
          <a:prstGeom prst="roundRect">
            <a:avLst>
              <a:gd name="adj" fmla="val 4000"/>
            </a:avLst>
          </a:prstGeom>
          <a:solidFill>
            <a:srgbClr val="1E2130"/>
          </a:solidFill>
          <a:ln>
            <a:noFill/>
          </a:ln>
          <a:effectLst>
            <a:outerShdw blurRad="101600" dist="25400" dir="5400000" algn="bl" rotWithShape="0">
              <a:srgbClr val="1E213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55080" y="178308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Spark replaces </a:t>
            </a:r>
            <a:r>
              <a:rPr sz="1900" b="1" i="0">
                <a:solidFill>
                  <a:srgbClr val="FF6B35"/>
                </a:solidFill>
                <a:latin typeface="Cambria"/>
              </a:rPr>
              <a:t>MapReduce</a:t>
            </a:r>
            <a:r>
              <a:rPr sz="1900" b="1" i="0">
                <a:solidFill>
                  <a:srgbClr val="FFFFFF"/>
                </a:solidFill>
                <a:latin typeface="Cambria"/>
              </a:rPr>
              <a:t> — not Hadoop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21284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7CBDA"/>
                </a:solidFill>
                <a:latin typeface="Calibri"/>
              </a:rPr>
              <a:t>Spark is a plug-and-play compute engine. It still needs storage and a resource manager.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697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 spc="150">
                <a:solidFill>
                  <a:srgbClr val="C7CBDA"/>
                </a:solidFill>
                <a:latin typeface="Calibri"/>
              </a:rPr>
              <a:t>HADOOP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269748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 spc="150">
                <a:solidFill>
                  <a:srgbClr val="FF6B35"/>
                </a:solidFill>
                <a:latin typeface="Calibri"/>
              </a:rPr>
              <a:t>WITH SPARK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063240"/>
            <a:ext cx="13258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3063240"/>
            <a:ext cx="1463040" cy="749808"/>
          </a:xfrm>
          <a:prstGeom prst="roundRect">
            <a:avLst>
              <a:gd name="adj" fmla="val 12000"/>
            </a:avLst>
          </a:prstGeom>
          <a:solidFill>
            <a:srgbClr val="2A2E45"/>
          </a:solidFill>
          <a:ln w="9525">
            <a:solidFill>
              <a:srgbClr val="3F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772400" y="3063240"/>
            <a:ext cx="14630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HDFS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35440" y="3438144"/>
            <a:ext cx="411480" cy="0"/>
          </a:xfrm>
          <a:prstGeom prst="line">
            <a:avLst/>
          </a:prstGeom>
          <a:ln w="25400">
            <a:solidFill>
              <a:srgbClr val="3F45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646920" y="3063240"/>
            <a:ext cx="1783080" cy="749808"/>
          </a:xfrm>
          <a:prstGeom prst="roundRect">
            <a:avLst>
              <a:gd name="adj" fmla="val 12000"/>
            </a:avLst>
          </a:prstGeom>
          <a:solidFill>
            <a:srgbClr val="2A2E45"/>
          </a:solidFill>
          <a:ln w="9525">
            <a:solidFill>
              <a:srgbClr val="3F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0" y="3063240"/>
            <a:ext cx="16916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HDFS · S3 · ADLS Gen2 · GCS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069080"/>
            <a:ext cx="13258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Compute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4069080"/>
            <a:ext cx="1463040" cy="749808"/>
          </a:xfrm>
          <a:prstGeom prst="roundRect">
            <a:avLst>
              <a:gd name="adj" fmla="val 12000"/>
            </a:avLst>
          </a:prstGeom>
          <a:solidFill>
            <a:srgbClr val="2A2E45"/>
          </a:solidFill>
          <a:ln w="9525">
            <a:solidFill>
              <a:srgbClr val="3F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772400" y="4069080"/>
            <a:ext cx="14630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C7CBDA"/>
                </a:solidFill>
                <a:latin typeface="Calibri"/>
              </a:rPr>
              <a:t>MapReduce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235440" y="4443984"/>
            <a:ext cx="411480" cy="0"/>
          </a:xfrm>
          <a:prstGeom prst="line">
            <a:avLst/>
          </a:prstGeom>
          <a:ln w="25400">
            <a:solidFill>
              <a:srgbClr val="FF6B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646920" y="4069080"/>
            <a:ext cx="1783080" cy="749808"/>
          </a:xfrm>
          <a:prstGeom prst="roundRect">
            <a:avLst>
              <a:gd name="adj" fmla="val 12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692640" y="4069080"/>
            <a:ext cx="16916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Apache Spark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5074920"/>
            <a:ext cx="13258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Resources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0" y="5074920"/>
            <a:ext cx="1463040" cy="749808"/>
          </a:xfrm>
          <a:prstGeom prst="roundRect">
            <a:avLst>
              <a:gd name="adj" fmla="val 12000"/>
            </a:avLst>
          </a:prstGeom>
          <a:solidFill>
            <a:srgbClr val="2A2E45"/>
          </a:solidFill>
          <a:ln w="9525">
            <a:solidFill>
              <a:srgbClr val="3F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72400" y="5074920"/>
            <a:ext cx="14630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YARN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35440" y="5449824"/>
            <a:ext cx="411480" cy="0"/>
          </a:xfrm>
          <a:prstGeom prst="line">
            <a:avLst/>
          </a:prstGeom>
          <a:ln w="25400">
            <a:solidFill>
              <a:srgbClr val="3F45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646920" y="5074920"/>
            <a:ext cx="1783080" cy="749808"/>
          </a:xfrm>
          <a:prstGeom prst="roundRect">
            <a:avLst>
              <a:gd name="adj" fmla="val 12000"/>
            </a:avLst>
          </a:prstGeom>
          <a:solidFill>
            <a:srgbClr val="2A2E45"/>
          </a:solidFill>
          <a:ln w="9525">
            <a:solidFill>
              <a:srgbClr val="3F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692640" y="5074920"/>
            <a:ext cx="16916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YARN · Kubernetes · Mesos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2026-08-27T11:26:26Z</dcterms:created>
  <dcterms:modified xsi:type="dcterms:W3CDTF">2026-08-27T11:26:26Z</dcterms:modified>
</cp:coreProperties>
</file>